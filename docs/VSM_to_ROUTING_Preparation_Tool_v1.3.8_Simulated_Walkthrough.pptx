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9324ebed47405d" /><Relationship Type="http://schemas.openxmlformats.org/officeDocument/2006/relationships/extended-properties" Target="/docProps/app.xml" Id="R46a20bba8e03463a" /><Relationship Type="http://schemas.openxmlformats.org/officeDocument/2006/relationships/officeDocument" Target="/ppt/presentation.xml" Id="R43770ab906a2495f" /></Relationships>
</file>

<file path=ppt/presentation.xml><?xml version="1.0" encoding="utf-8"?>
<p:presentation xmlns:p="http://schemas.openxmlformats.org/presentationml/2006/main">
  <p:sldMasterIdLst>
    <p:sldMasterId xmlns:r="http://schemas.openxmlformats.org/officeDocument/2006/relationships" id="2147483648" r:id="R148fdbfda5064285"/>
  </p:sldMasterIdLst>
  <p:notesMasterIdLst>
    <p:notesMasterId xmlns:r="http://schemas.openxmlformats.org/officeDocument/2006/relationships" r:id="R3b4e00bafdaf4f62"/>
  </p:notesMasterIdLst>
  <p:sldIdLst>
    <p:sldId xmlns:r="http://schemas.openxmlformats.org/officeDocument/2006/relationships" id="256" r:id="R8fba1e67b4244a9e"/>
    <p:sldId xmlns:r="http://schemas.openxmlformats.org/officeDocument/2006/relationships" id="257" r:id="R756d446a0b294133"/>
    <p:sldId xmlns:r="http://schemas.openxmlformats.org/officeDocument/2006/relationships" id="258" r:id="R634f4afa3a8d4be9"/>
    <p:sldId xmlns:r="http://schemas.openxmlformats.org/officeDocument/2006/relationships" id="259" r:id="R360c4c7895524233"/>
    <p:sldId xmlns:r="http://schemas.openxmlformats.org/officeDocument/2006/relationships" id="260" r:id="R46eb0064ccca476a"/>
    <p:sldId xmlns:r="http://schemas.openxmlformats.org/officeDocument/2006/relationships" id="261" r:id="R1bf64320254848ae"/>
    <p:sldId xmlns:r="http://schemas.openxmlformats.org/officeDocument/2006/relationships" id="262" r:id="R74db280f26ee4348"/>
    <p:sldId xmlns:r="http://schemas.openxmlformats.org/officeDocument/2006/relationships" id="263" r:id="Re41dcb495cb64563"/>
    <p:sldId xmlns:r="http://schemas.openxmlformats.org/officeDocument/2006/relationships" id="264" r:id="R013c72eda0854c46"/>
    <p:sldId xmlns:r="http://schemas.openxmlformats.org/officeDocument/2006/relationships" id="265" r:id="R8f2f7cb37f5b48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24dec9ae754596" /><Relationship Type="http://schemas.openxmlformats.org/officeDocument/2006/relationships/slideMaster" Target="/ppt/slideMasters/slideMaster1.xml" Id="R148fdbfda5064285" /><Relationship Type="http://schemas.openxmlformats.org/officeDocument/2006/relationships/notesMaster" Target="/ppt/notesMasters/notesMaster1.xml" Id="R3b4e00bafdaf4f62" /><Relationship Type="http://schemas.openxmlformats.org/officeDocument/2006/relationships/presProps" Target="/ppt/presProps.xml" Id="R62a8aba9e28e4c1d" /><Relationship Type="http://schemas.openxmlformats.org/officeDocument/2006/relationships/tableStyles" Target="/ppt/tableStyles.xml" Id="R32750c5e48ad41d7" /><Relationship Type="http://schemas.openxmlformats.org/officeDocument/2006/relationships/slide" Target="/ppt/slides/slide1.xml" Id="R8fba1e67b4244a9e" /><Relationship Type="http://schemas.openxmlformats.org/officeDocument/2006/relationships/slide" Target="/ppt/slides/slide2.xml" Id="R756d446a0b294133" /><Relationship Type="http://schemas.openxmlformats.org/officeDocument/2006/relationships/slide" Target="/ppt/slides/slide3.xml" Id="R634f4afa3a8d4be9" /><Relationship Type="http://schemas.openxmlformats.org/officeDocument/2006/relationships/slide" Target="/ppt/slides/slide4.xml" Id="R360c4c7895524233" /><Relationship Type="http://schemas.openxmlformats.org/officeDocument/2006/relationships/slide" Target="/ppt/slides/slide5.xml" Id="R46eb0064ccca476a" /><Relationship Type="http://schemas.openxmlformats.org/officeDocument/2006/relationships/slide" Target="/ppt/slides/slide6.xml" Id="R1bf64320254848ae" /><Relationship Type="http://schemas.openxmlformats.org/officeDocument/2006/relationships/slide" Target="/ppt/slides/slide7.xml" Id="R74db280f26ee4348" /><Relationship Type="http://schemas.openxmlformats.org/officeDocument/2006/relationships/slide" Target="/ppt/slides/slide8.xml" Id="Re41dcb495cb64563" /><Relationship Type="http://schemas.openxmlformats.org/officeDocument/2006/relationships/slide" Target="/ppt/slides/slide9.xml" Id="R013c72eda0854c46" /><Relationship Type="http://schemas.openxmlformats.org/officeDocument/2006/relationships/slide" Target="/ppt/slides/slide10.xml" Id="R8f2f7cb37f5b48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a5baecbb064d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4d905cfcf04536" /><Relationship Type="http://schemas.openxmlformats.org/officeDocument/2006/relationships/notesMaster" Target="/ppt/notesMasters/notesMaster1.xml" Id="R5c491b09e61247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4ea5fcf2224983" /><Relationship Type="http://schemas.openxmlformats.org/officeDocument/2006/relationships/notesMaster" Target="/ppt/notesMasters/notesMaster1.xml" Id="R86e433724bfb43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51868263cc4080" /><Relationship Type="http://schemas.openxmlformats.org/officeDocument/2006/relationships/notesMaster" Target="/ppt/notesMasters/notesMaster1.xml" Id="Rd7a3cde7964a4d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4ecabb08fd4e4c" /><Relationship Type="http://schemas.openxmlformats.org/officeDocument/2006/relationships/notesMaster" Target="/ppt/notesMasters/notesMaster1.xml" Id="R84a5b824ce0a46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f1110c17c646a6" /><Relationship Type="http://schemas.openxmlformats.org/officeDocument/2006/relationships/notesMaster" Target="/ppt/notesMasters/notesMaster1.xml" Id="Rfee746b7d5c84c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dffce25de044d6" /><Relationship Type="http://schemas.openxmlformats.org/officeDocument/2006/relationships/notesMaster" Target="/ppt/notesMasters/notesMaster1.xml" Id="Rbc9e7fb6712b42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9269f4c3614e37" /><Relationship Type="http://schemas.openxmlformats.org/officeDocument/2006/relationships/notesMaster" Target="/ppt/notesMasters/notesMaster1.xml" Id="Rb1bb7b58462343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4d05e7ad1d4f23" /><Relationship Type="http://schemas.openxmlformats.org/officeDocument/2006/relationships/notesMaster" Target="/ppt/notesMasters/notesMaster1.xml" Id="Rd889b0b6f21347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dcf3a527a348a5" /><Relationship Type="http://schemas.openxmlformats.org/officeDocument/2006/relationships/notesMaster" Target="/ppt/notesMasters/notesMaster1.xml" Id="Re6bfb2592b714c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57ab1c82e646db" /><Relationship Type="http://schemas.openxmlformats.org/officeDocument/2006/relationships/notesMaster" Target="/ppt/notesMasters/notesMaster1.xml" Id="R109b79c55df0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documents a simulated end-to-end run of VSM to ROUTING Preparation Tool v1.3.8 using the CA02 Calendar department. The simulation uses the shared source workbooks and the Canada Surrey Process Flows VSDX. Outputs are first drafts and remain subject to process-owner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manufacturing-style gated workflow. Stages 0 to 2 establish trusted context, stages 3 to 5 prepare and review routing changes, and stages 6 to 7 prepare material selection and exportable packages.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tabs: P41 extraction — MATERIAL_IN_SCOPE, MAPL, PLPO; WorkCenter reference — PTS03_Work_Center; code reference — Final list of MRP Controllers and Production Supervisor. The user confirms each sheet before the source is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loads Canada Surrey Process Flows.vsdx and assigns Plant CA02. The file is scanned before moving to page-level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CA02 Calendar page is selected from VSM tabs/pages and assigned to CRID CALENDAR. This prevents rules from being generated under the wrong department.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Inspection is a human control gate. The operator verifies that the VSM page, process flow, and detected workcentre labels represent the intended department before rule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CA02 Calendar the simulation generates five rows: one ALL rule and four LIST rules. Four rows remain Review Required because old workcentre E02001 has multiple possible new-workcentre assignments.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screen filters out the ready row and shows the four ambiguous LIST rules. Manufacturing executives or the process owner must validate the proposed new workcentre before the draft is approved.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uses the shared P41 extraction plus MRP Controller and Production Supervisor references. It generates 30 CA02 Calendar material candidates. These are first-draft candidates, not autonomous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export gate keeps output choices together. Templates remain explicit inputs, and final files should be reviewed by the process owner before downstream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e54dac644e4e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dd704d543e4c09" /><Relationship Type="http://schemas.openxmlformats.org/officeDocument/2006/relationships/slideLayout" Target="/ppt/slideLayouts/slideLayout1.xml" Id="R2709d2b20c784f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09d2b20c784f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49c8a1e94d4e64" /><Relationship Type="http://schemas.openxmlformats.org/officeDocument/2006/relationships/image" Target="/ppt/media/image.png" Id="R27830232d0b74bbf" /><Relationship Type="http://schemas.openxmlformats.org/officeDocument/2006/relationships/notesSlide" Target="/ppt/notesSlides/notesSlide1.xml" Id="R77eddd87cd4640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e4906b50c748df" /><Relationship Type="http://schemas.openxmlformats.org/officeDocument/2006/relationships/notesSlide" Target="/ppt/notesSlides/notesSlide2.xml" Id="R236144712f214c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5b1421694e4944" /><Relationship Type="http://schemas.openxmlformats.org/officeDocument/2006/relationships/image" Target="/ppt/media/image2.png" Id="Rded61a5ff393478a" /><Relationship Type="http://schemas.openxmlformats.org/officeDocument/2006/relationships/notesSlide" Target="/ppt/notesSlides/notesSlide3.xml" Id="Rb47c3ce1f6b94b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4454f4ebdb4bb5" /><Relationship Type="http://schemas.openxmlformats.org/officeDocument/2006/relationships/image" Target="/ppt/media/image3.png" Id="R67382ab1deae4159" /><Relationship Type="http://schemas.openxmlformats.org/officeDocument/2006/relationships/notesSlide" Target="/ppt/notesSlides/notesSlide4.xml" Id="R9735d0662a384f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a025c4e2594173" /><Relationship Type="http://schemas.openxmlformats.org/officeDocument/2006/relationships/image" Target="/ppt/media/image4.png" Id="R37eea32596fa42ef" /><Relationship Type="http://schemas.openxmlformats.org/officeDocument/2006/relationships/notesSlide" Target="/ppt/notesSlides/notesSlide5.xml" Id="R261524f90d0541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e71ff1c5b64b8e" /><Relationship Type="http://schemas.openxmlformats.org/officeDocument/2006/relationships/image" Target="/ppt/media/image5.png" Id="Raa7493ee54134593" /><Relationship Type="http://schemas.openxmlformats.org/officeDocument/2006/relationships/notesSlide" Target="/ppt/notesSlides/notesSlide6.xml" Id="R6bf23bdb716b4a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4da88b59c44eb3" /><Relationship Type="http://schemas.openxmlformats.org/officeDocument/2006/relationships/image" Target="/ppt/media/image6.png" Id="Rd0f698f5ed4b41e5" /><Relationship Type="http://schemas.openxmlformats.org/officeDocument/2006/relationships/notesSlide" Target="/ppt/notesSlides/notesSlide7.xml" Id="R770f2772caf340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a353b8becb47c4" /><Relationship Type="http://schemas.openxmlformats.org/officeDocument/2006/relationships/image" Target="/ppt/media/image7.png" Id="R16e7f09997d04ed0" /><Relationship Type="http://schemas.openxmlformats.org/officeDocument/2006/relationships/notesSlide" Target="/ppt/notesSlides/notesSlide8.xml" Id="R10d1ff2612404b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71ae686f5d40ca" /><Relationship Type="http://schemas.openxmlformats.org/officeDocument/2006/relationships/image" Target="/ppt/media/image8.png" Id="Rdaa46774fade485a" /><Relationship Type="http://schemas.openxmlformats.org/officeDocument/2006/relationships/notesSlide" Target="/ppt/notesSlides/notesSlide9.xml" Id="R868859a51ed140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38b280b0d04357" /><Relationship Type="http://schemas.openxmlformats.org/officeDocument/2006/relationships/image" Target="/ppt/media/image9.png" Id="R50f73c4a7a0842ed" /><Relationship Type="http://schemas.openxmlformats.org/officeDocument/2006/relationships/notesSlide" Target="/ppt/notesSlides/notesSlide10.xml" Id="R146cf02b7da94c77" /></Relationships>
</file>

<file path=ppt/slides/slide1.xml><?xml version="1.0" encoding="utf-8"?>
<p:sld xmlns:p="http://schemas.openxmlformats.org/presentationml/2006/main">
  <p:cSld>
    <p:bg>
      <p:bgPr>
        <a:solidFill xmlns:a="http://schemas.openxmlformats.org/drawingml/2006/main">
          <a:srgbClr val="F3F7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D4B08A-E5F3-4442-B44E-33A9255928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C7368D-0F8B-48BE-A1FA-35CBB0CAD15F}"/>
              </a:ext>
            </a:extLst>
          </p:cNvPr>
          <p:cNvSpPr>
            <a:spLocks xmlns:a="http://schemas.openxmlformats.org/drawingml/2006/main" noGrp="1"/>
          </p:cNvSpPr>
          <p:nvPr/>
        </p:nvSpPr>
        <p:spPr>
          <a:xfrm xmlns:a="http://schemas.openxmlformats.org/drawingml/2006/main">
            <a:off x="590550" y="704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1766E8"/>
                </a:solidFill>
                <a:latin typeface="Aptos"/>
                <a:ea typeface="Aptos"/>
                <a:cs typeface="Aptos"/>
              </a:defRPr>
            </a:pPr>
            <a:r>
              <a:rPr sz="1125" b="1">
                <a:solidFill>
                  <a:srgbClr val="1766E8"/>
                </a:solidFill>
                <a:latin typeface="Aptos"/>
                <a:ea typeface="Aptos"/>
                <a:cs typeface="Aptos"/>
              </a:rPr>
              <a:t>VSM TO ROUTING</a:t>
            </a:r>
          </a:p>
        </p:txBody>
      </p:sp>
      <p:sp>
        <p:nvSpPr>
          <p:cNvPr id="3" name="">
            <a:extLst xmlns:a="http://schemas.openxmlformats.org/drawingml/2006/main">
              <a:ext uri="{FF2B5EF4-FFF2-40B4-BE49-F238E27FC236}">
                <a16:creationId xmlns:a16="http://schemas.microsoft.com/office/drawing/2014/main" id="{AA36B8F4-8A3F-4FA9-8DB0-BFEC03E38B48}"/>
              </a:ext>
            </a:extLst>
          </p:cNvPr>
          <p:cNvSpPr>
            <a:spLocks xmlns:a="http://schemas.openxmlformats.org/drawingml/2006/main" noGrp="1"/>
          </p:cNvSpPr>
          <p:nvPr/>
        </p:nvSpPr>
        <p:spPr>
          <a:xfrm xmlns:a="http://schemas.openxmlformats.org/drawingml/2006/main">
            <a:off x="590550" y="1104900"/>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00" b="1">
                <a:solidFill>
                  <a:srgbClr val="08265B"/>
                </a:solidFill>
                <a:latin typeface="Aptos"/>
                <a:ea typeface="Aptos"/>
                <a:cs typeface="Aptos"/>
              </a:defRPr>
            </a:pPr>
            <a:r>
              <a:rPr sz="3900" b="1">
                <a:solidFill>
                  <a:srgbClr val="08265B"/>
                </a:solidFill>
                <a:latin typeface="Aptos"/>
                <a:ea typeface="Aptos"/>
                <a:cs typeface="Aptos"/>
              </a:rPr>
              <a:t>Preparation Tool</a:t>
            </a:r>
          </a:p>
          <a:p xmlns:a="http://schemas.openxmlformats.org/drawingml/2006/main">
            <a:pPr algn="l">
              <a:defRPr sz="3900" b="1">
                <a:solidFill>
                  <a:srgbClr val="08265B"/>
                </a:solidFill>
                <a:latin typeface="Aptos"/>
                <a:ea typeface="Aptos"/>
                <a:cs typeface="Aptos"/>
              </a:defRPr>
            </a:pPr>
            <a:r>
              <a:rPr sz="3900" b="1">
                <a:solidFill>
                  <a:srgbClr val="08265B"/>
                </a:solidFill>
                <a:latin typeface="Aptos"/>
                <a:ea typeface="Aptos"/>
                <a:cs typeface="Aptos"/>
              </a:rPr>
              <a:t>v1.3.8</a:t>
            </a:r>
          </a:p>
        </p:txBody>
      </p:sp>
      <p:sp>
        <p:nvSpPr>
          <p:cNvPr id="4" name="">
            <a:extLst xmlns:a="http://schemas.openxmlformats.org/drawingml/2006/main">
              <a:ext uri="{FF2B5EF4-FFF2-40B4-BE49-F238E27FC236}">
                <a16:creationId xmlns:a16="http://schemas.microsoft.com/office/drawing/2014/main" id="{9361232E-C78D-40CB-A097-851819193C90}"/>
              </a:ext>
            </a:extLst>
          </p:cNvPr>
          <p:cNvSpPr>
            <a:spLocks xmlns:a="http://schemas.openxmlformats.org/drawingml/2006/main" noGrp="1"/>
          </p:cNvSpPr>
          <p:nvPr/>
        </p:nvSpPr>
        <p:spPr>
          <a:xfrm xmlns:a="http://schemas.openxmlformats.org/drawingml/2006/main">
            <a:off x="590550" y="27432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A2B49"/>
                </a:solidFill>
                <a:latin typeface="Aptos"/>
                <a:ea typeface="Aptos"/>
                <a:cs typeface="Aptos"/>
              </a:defRPr>
            </a:pPr>
            <a:r>
              <a:rPr sz="1875" b="0">
                <a:solidFill>
                  <a:srgbClr val="1A2B49"/>
                </a:solidFill>
                <a:latin typeface="Aptos"/>
                <a:ea typeface="Aptos"/>
                <a:cs typeface="Aptos"/>
              </a:rPr>
              <a:t>Simulated operating walkthrough</a:t>
            </a:r>
          </a:p>
        </p:txBody>
      </p:sp>
      <p:sp>
        <p:nvSpPr>
          <p:cNvPr id="5" name="">
            <a:extLst xmlns:a="http://schemas.openxmlformats.org/drawingml/2006/main">
              <a:ext uri="{FF2B5EF4-FFF2-40B4-BE49-F238E27FC236}">
                <a16:creationId xmlns:a16="http://schemas.microsoft.com/office/drawing/2014/main" id="{395CB31F-A0B5-46D2-9AEB-0DDD1EEA96AA}"/>
              </a:ext>
            </a:extLst>
          </p:cNvPr>
          <p:cNvSpPr>
            <a:spLocks xmlns:a="http://schemas.openxmlformats.org/drawingml/2006/main" noGrp="1"/>
          </p:cNvSpPr>
          <p:nvPr/>
        </p:nvSpPr>
        <p:spPr>
          <a:xfrm xmlns:a="http://schemas.openxmlformats.org/drawingml/2006/main">
            <a:off x="590550" y="32194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B8E"/>
                </a:solidFill>
                <a:latin typeface="Aptos"/>
                <a:ea typeface="Aptos"/>
                <a:cs typeface="Aptos"/>
              </a:defRPr>
            </a:pPr>
            <a:r>
              <a:rPr sz="1350" b="0">
                <a:solidFill>
                  <a:srgbClr val="586B8E"/>
                </a:solidFill>
                <a:latin typeface="Aptos"/>
                <a:ea typeface="Aptos"/>
                <a:cs typeface="Aptos"/>
              </a:rPr>
              <a:t>CA02 • Calendar department</a:t>
            </a:r>
          </a:p>
        </p:txBody>
      </p:sp>
      <p:sp>
        <p:nvSpPr>
          <p:cNvPr id="6" name="">
            <a:extLst xmlns:a="http://schemas.openxmlformats.org/drawingml/2006/main">
              <a:ext uri="{FF2B5EF4-FFF2-40B4-BE49-F238E27FC236}">
                <a16:creationId xmlns:a16="http://schemas.microsoft.com/office/drawing/2014/main" id="{BA525F4F-A7A4-4913-A34C-6588EB802095}"/>
              </a:ext>
            </a:extLst>
          </p:cNvPr>
          <p:cNvSpPr>
            <a:spLocks xmlns:a="http://schemas.openxmlformats.org/drawingml/2006/main" noGrp="1"/>
          </p:cNvSpPr>
          <p:nvPr/>
        </p:nvSpPr>
        <p:spPr>
          <a:xfrm xmlns:a="http://schemas.openxmlformats.org/drawingml/2006/main">
            <a:off x="590550" y="3924300"/>
            <a:ext cx="4095750" cy="28575"/>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6CEA89F-A3E8-4A0B-9667-EEE5CD12498B}"/>
              </a:ext>
            </a:extLst>
          </p:cNvPr>
          <p:cNvSpPr>
            <a:spLocks xmlns:a="http://schemas.openxmlformats.org/drawingml/2006/main" noGrp="1"/>
          </p:cNvSpPr>
          <p:nvPr/>
        </p:nvSpPr>
        <p:spPr>
          <a:xfrm xmlns:a="http://schemas.openxmlformats.org/drawingml/2006/main">
            <a:off x="590550" y="415290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Real source workbooks and VSM page</a:t>
            </a:r>
          </a:p>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5 draft Change Rule rows</a:t>
            </a:r>
          </a:p>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30 draft Material Selection candidates</a:t>
            </a:r>
          </a:p>
        </p:txBody>
      </p:sp>
      <p:sp>
        <p:nvSpPr>
          <p:cNvPr id="8" name="">
            <a:extLst xmlns:a="http://schemas.openxmlformats.org/drawingml/2006/main">
              <a:ext uri="{FF2B5EF4-FFF2-40B4-BE49-F238E27FC236}">
                <a16:creationId xmlns:a16="http://schemas.microsoft.com/office/drawing/2014/main" id="{83A72F82-B096-44A1-98D5-188078225EE8}"/>
              </a:ext>
            </a:extLst>
          </p:cNvPr>
          <p:cNvSpPr>
            <a:spLocks xmlns:a="http://schemas.openxmlformats.org/drawingml/2006/main" noGrp="1"/>
          </p:cNvSpPr>
          <p:nvPr/>
        </p:nvSpPr>
        <p:spPr>
          <a:xfrm xmlns:a="http://schemas.openxmlformats.org/drawingml/2006/main">
            <a:off x="5495925" y="781050"/>
            <a:ext cx="6200775" cy="3581400"/>
          </a:xfrm>
          <a:prstGeom xmlns:a="http://schemas.openxmlformats.org/drawingml/2006/main" prst="roundRect">
            <a:avLst>
              <a:gd name="adj" fmla="val 2128"/>
            </a:avLst>
          </a:prstGeom>
          <a:solidFill xmlns:a="http://schemas.openxmlformats.org/drawingml/2006/main">
            <a:srgbClr val="F3F7FD"/>
          </a:solidFill>
          <a:ln xmlns:a="http://schemas.openxmlformats.org/drawingml/2006/main" w="9525">
            <a:solidFill>
              <a:srgbClr val="C7D7EE"/>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7830232d0b74bbf"/>
          <a:stretch xmlns:a="http://schemas.openxmlformats.org/drawingml/2006/main"/>
        </p:blipFill>
        <p:spPr>
          <a:xfrm xmlns:a="http://schemas.openxmlformats.org/drawingml/2006/main">
            <a:off x="5572125" y="858044"/>
            <a:ext cx="6048375" cy="3427413"/>
          </a:xfrm>
          <a:prstGeom xmlns:a="http://schemas.openxmlformats.org/drawingml/2006/main" prst="roundRect">
            <a:avLst>
              <a:gd name="adj" fmla="val 3333"/>
            </a:avLst>
          </a:prstGeom>
        </p:spPr>
      </p:pic>
      <p:sp>
        <p:nvSpPr>
          <p:cNvPr id="10" name="">
            <a:extLst xmlns:a="http://schemas.openxmlformats.org/drawingml/2006/main">
              <a:ext uri="{FF2B5EF4-FFF2-40B4-BE49-F238E27FC236}">
                <a16:creationId xmlns:a16="http://schemas.microsoft.com/office/drawing/2014/main" id="{74914A8B-2A13-488F-96F2-1045A27552A6}"/>
              </a:ext>
            </a:extLst>
          </p:cNvPr>
          <p:cNvSpPr>
            <a:spLocks xmlns:a="http://schemas.openxmlformats.org/drawingml/2006/main" noGrp="1"/>
          </p:cNvSpPr>
          <p:nvPr/>
        </p:nvSpPr>
        <p:spPr>
          <a:xfrm xmlns:a="http://schemas.openxmlformats.org/drawingml/2006/main">
            <a:off x="5572125" y="45910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Purpose</a:t>
            </a:r>
          </a:p>
        </p:txBody>
      </p:sp>
      <p:sp>
        <p:nvSpPr>
          <p:cNvPr id="11" name="">
            <a:extLst xmlns:a="http://schemas.openxmlformats.org/drawingml/2006/main">
              <a:ext uri="{FF2B5EF4-FFF2-40B4-BE49-F238E27FC236}">
                <a16:creationId xmlns:a16="http://schemas.microsoft.com/office/drawing/2014/main" id="{4D946E03-26ED-40C5-B519-AFBB6B3F3681}"/>
              </a:ext>
            </a:extLst>
          </p:cNvPr>
          <p:cNvSpPr>
            <a:spLocks xmlns:a="http://schemas.openxmlformats.org/drawingml/2006/main" noGrp="1"/>
          </p:cNvSpPr>
          <p:nvPr/>
        </p:nvSpPr>
        <p:spPr>
          <a:xfrm xmlns:a="http://schemas.openxmlformats.org/drawingml/2006/main">
            <a:off x="5572125" y="484822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A2B49"/>
                </a:solidFill>
                <a:latin typeface="Aptos"/>
                <a:ea typeface="Aptos"/>
                <a:cs typeface="Aptos"/>
              </a:defRPr>
            </a:pPr>
            <a:r>
              <a:rPr sz="1425" b="0">
                <a:solidFill>
                  <a:srgbClr val="1A2B49"/>
                </a:solidFill>
                <a:latin typeface="Aptos"/>
                <a:ea typeface="Aptos"/>
                <a:cs typeface="Aptos"/>
              </a:rPr>
              <a:t>Automate the first draft; keep manufacturing executives and process owners responsible for final approval.</a:t>
            </a:r>
          </a:p>
        </p:txBody>
      </p:sp>
      <p:sp>
        <p:nvSpPr>
          <p:cNvPr id="12" name="">
            <a:extLst xmlns:a="http://schemas.openxmlformats.org/drawingml/2006/main">
              <a:ext uri="{FF2B5EF4-FFF2-40B4-BE49-F238E27FC236}">
                <a16:creationId xmlns:a16="http://schemas.microsoft.com/office/drawing/2014/main" id="{1BE63661-C294-4639-B6AC-E58808A730CB}"/>
              </a:ext>
            </a:extLst>
          </p:cNvPr>
          <p:cNvSpPr>
            <a:spLocks xmlns:a="http://schemas.openxmlformats.org/drawingml/2006/main" noGrp="1"/>
          </p:cNvSpPr>
          <p:nvPr/>
        </p:nvSpPr>
        <p:spPr>
          <a:xfrm xmlns:a="http://schemas.openxmlformats.org/drawingml/2006/main">
            <a:off x="590550" y="63246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586B8E"/>
                </a:solidFill>
                <a:latin typeface="Aptos"/>
                <a:ea typeface="Aptos"/>
                <a:cs typeface="Aptos"/>
              </a:defRPr>
            </a:pPr>
            <a:r>
              <a:rPr sz="900" b="0">
                <a:solidFill>
                  <a:srgbClr val="586B8E"/>
                </a:solidFill>
                <a:latin typeface="Aptos"/>
                <a:ea typeface="Aptos"/>
                <a:cs typeface="Aptos"/>
              </a:rPr>
              <a:t>Software by COA Data Team Copyright 2026</a:t>
            </a:r>
          </a:p>
        </p:txBody>
      </p:sp>
    </p:spTree>
    <p:extLst>
      <p:ext uri="{BB962C8B-B14F-4D97-AF65-F5344CB8AC3E}">
        <p14:creationId xmlns:p14="http://schemas.microsoft.com/office/powerpoint/2010/main" val="14254363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B0296AC-35CA-45AE-AD4E-40B9CEE04C5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539E1D-7276-4D77-A035-989EFD24862C}"/>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PROCESS OVERVIEW</a:t>
            </a:r>
          </a:p>
        </p:txBody>
      </p:sp>
      <p:sp>
        <p:nvSpPr>
          <p:cNvPr id="3" name="">
            <a:extLst xmlns:a="http://schemas.openxmlformats.org/drawingml/2006/main">
              <a:ext uri="{FF2B5EF4-FFF2-40B4-BE49-F238E27FC236}">
                <a16:creationId xmlns:a16="http://schemas.microsoft.com/office/drawing/2014/main" id="{D26FFC7B-F1A7-444C-AE10-B6AB0246630A}"/>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Eight gated stages from raw data to reviewable outputs</a:t>
            </a:r>
          </a:p>
        </p:txBody>
      </p:sp>
      <p:sp>
        <p:nvSpPr>
          <p:cNvPr id="4" name="">
            <a:extLst xmlns:a="http://schemas.openxmlformats.org/drawingml/2006/main">
              <a:ext uri="{FF2B5EF4-FFF2-40B4-BE49-F238E27FC236}">
                <a16:creationId xmlns:a16="http://schemas.microsoft.com/office/drawing/2014/main" id="{147FB638-0287-42A3-8C0F-B259780D94A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0C5EC6-8A05-4C33-9BC6-B3CDF3A810B8}"/>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ECDDEC89-60AC-4525-BEB9-DE2C995288C8}"/>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2</a:t>
            </a:r>
          </a:p>
        </p:txBody>
      </p:sp>
      <p:sp>
        <p:nvSpPr>
          <p:cNvPr id="7" name="">
            <a:extLst xmlns:a="http://schemas.openxmlformats.org/drawingml/2006/main">
              <a:ext uri="{FF2B5EF4-FFF2-40B4-BE49-F238E27FC236}">
                <a16:creationId xmlns:a16="http://schemas.microsoft.com/office/drawing/2014/main" id="{9C01B0EC-0D03-47D4-8109-86A6A0F6A776}"/>
              </a:ext>
            </a:extLst>
          </p:cNvPr>
          <p:cNvSpPr>
            <a:spLocks xmlns:a="http://schemas.openxmlformats.org/drawingml/2006/main" noGrp="1"/>
          </p:cNvSpPr>
          <p:nvPr/>
        </p:nvSpPr>
        <p:spPr>
          <a:xfrm xmlns:a="http://schemas.openxmlformats.org/drawingml/2006/main">
            <a:off x="495300" y="10477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B8E"/>
                </a:solidFill>
                <a:latin typeface="Aptos"/>
                <a:ea typeface="Aptos"/>
                <a:cs typeface="Aptos"/>
              </a:defRPr>
            </a:pPr>
            <a:r>
              <a:rPr sz="1350" b="0">
                <a:solidFill>
                  <a:srgbClr val="586B8E"/>
                </a:solidFill>
                <a:latin typeface="Aptos"/>
                <a:ea typeface="Aptos"/>
                <a:cs typeface="Aptos"/>
              </a:rPr>
              <a:t>The operator advances only after the current gate has enough evidence. Advanced controls stay available without crowding the guided path.</a:t>
            </a:r>
          </a:p>
        </p:txBody>
      </p:sp>
      <p:sp>
        <p:nvSpPr>
          <p:cNvPr id="8" name="">
            <a:extLst xmlns:a="http://schemas.openxmlformats.org/drawingml/2006/main">
              <a:ext uri="{FF2B5EF4-FFF2-40B4-BE49-F238E27FC236}">
                <a16:creationId xmlns:a16="http://schemas.microsoft.com/office/drawing/2014/main" id="{DADCD5A8-8AA6-4B96-90D1-1945C6575B07}"/>
              </a:ext>
            </a:extLst>
          </p:cNvPr>
          <p:cNvSpPr>
            <a:spLocks xmlns:a="http://schemas.openxmlformats.org/drawingml/2006/main" noGrp="1"/>
          </p:cNvSpPr>
          <p:nvPr/>
        </p:nvSpPr>
        <p:spPr>
          <a:xfrm xmlns:a="http://schemas.openxmlformats.org/drawingml/2006/main">
            <a:off x="1000125" y="2905125"/>
            <a:ext cx="10096500" cy="38100"/>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FBF33B-DFA4-45F5-97DD-F6235CB8FFCD}"/>
              </a:ext>
            </a:extLst>
          </p:cNvPr>
          <p:cNvSpPr>
            <a:spLocks xmlns:a="http://schemas.openxmlformats.org/drawingml/2006/main" noGrp="1"/>
          </p:cNvSpPr>
          <p:nvPr/>
        </p:nvSpPr>
        <p:spPr>
          <a:xfrm xmlns:a="http://schemas.openxmlformats.org/drawingml/2006/main">
            <a:off x="80962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7981BF-5212-4143-8415-4FF1EAC1007C}"/>
              </a:ext>
            </a:extLst>
          </p:cNvPr>
          <p:cNvSpPr>
            <a:spLocks xmlns:a="http://schemas.openxmlformats.org/drawingml/2006/main" noGrp="1"/>
          </p:cNvSpPr>
          <p:nvPr/>
        </p:nvSpPr>
        <p:spPr>
          <a:xfrm xmlns:a="http://schemas.openxmlformats.org/drawingml/2006/main">
            <a:off x="80962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0</a:t>
            </a:r>
          </a:p>
        </p:txBody>
      </p:sp>
      <p:sp>
        <p:nvSpPr>
          <p:cNvPr id="11" name="">
            <a:extLst xmlns:a="http://schemas.openxmlformats.org/drawingml/2006/main">
              <a:ext uri="{FF2B5EF4-FFF2-40B4-BE49-F238E27FC236}">
                <a16:creationId xmlns:a16="http://schemas.microsoft.com/office/drawing/2014/main" id="{96A4D1C6-00B7-48C7-A45D-69345C1D2176}"/>
              </a:ext>
            </a:extLst>
          </p:cNvPr>
          <p:cNvSpPr>
            <a:spLocks xmlns:a="http://schemas.openxmlformats.org/drawingml/2006/main" noGrp="1"/>
          </p:cNvSpPr>
          <p:nvPr/>
        </p:nvSpPr>
        <p:spPr>
          <a:xfrm xmlns:a="http://schemas.openxmlformats.org/drawingml/2006/main">
            <a:off x="51435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Data</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sources</a:t>
            </a:r>
          </a:p>
        </p:txBody>
      </p:sp>
      <p:sp>
        <p:nvSpPr>
          <p:cNvPr id="12" name="">
            <a:extLst xmlns:a="http://schemas.openxmlformats.org/drawingml/2006/main">
              <a:ext uri="{FF2B5EF4-FFF2-40B4-BE49-F238E27FC236}">
                <a16:creationId xmlns:a16="http://schemas.microsoft.com/office/drawing/2014/main" id="{EE94C73C-BE4F-456C-94CA-33B1149AF21E}"/>
              </a:ext>
            </a:extLst>
          </p:cNvPr>
          <p:cNvSpPr>
            <a:spLocks xmlns:a="http://schemas.openxmlformats.org/drawingml/2006/main" noGrp="1"/>
          </p:cNvSpPr>
          <p:nvPr/>
        </p:nvSpPr>
        <p:spPr>
          <a:xfrm xmlns:a="http://schemas.openxmlformats.org/drawingml/2006/main">
            <a:off x="223837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2950C6C-827D-4AC9-A26D-F4E01B6AF54D}"/>
              </a:ext>
            </a:extLst>
          </p:cNvPr>
          <p:cNvSpPr>
            <a:spLocks xmlns:a="http://schemas.openxmlformats.org/drawingml/2006/main" noGrp="1"/>
          </p:cNvSpPr>
          <p:nvPr/>
        </p:nvSpPr>
        <p:spPr>
          <a:xfrm xmlns:a="http://schemas.openxmlformats.org/drawingml/2006/main">
            <a:off x="223837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14" name="">
            <a:extLst xmlns:a="http://schemas.openxmlformats.org/drawingml/2006/main">
              <a:ext uri="{FF2B5EF4-FFF2-40B4-BE49-F238E27FC236}">
                <a16:creationId xmlns:a16="http://schemas.microsoft.com/office/drawing/2014/main" id="{C3A73838-33DB-47ED-B810-BCF8056E4902}"/>
              </a:ext>
            </a:extLst>
          </p:cNvPr>
          <p:cNvSpPr>
            <a:spLocks xmlns:a="http://schemas.openxmlformats.org/drawingml/2006/main" noGrp="1"/>
          </p:cNvSpPr>
          <p:nvPr/>
        </p:nvSpPr>
        <p:spPr>
          <a:xfrm xmlns:a="http://schemas.openxmlformats.org/drawingml/2006/main">
            <a:off x="194310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Load</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VSM</a:t>
            </a:r>
          </a:p>
        </p:txBody>
      </p:sp>
      <p:sp>
        <p:nvSpPr>
          <p:cNvPr id="15" name="">
            <a:extLst xmlns:a="http://schemas.openxmlformats.org/drawingml/2006/main">
              <a:ext uri="{FF2B5EF4-FFF2-40B4-BE49-F238E27FC236}">
                <a16:creationId xmlns:a16="http://schemas.microsoft.com/office/drawing/2014/main" id="{ACA3EDA9-FEB7-46D6-A137-9FD2C454DF92}"/>
              </a:ext>
            </a:extLst>
          </p:cNvPr>
          <p:cNvSpPr>
            <a:spLocks xmlns:a="http://schemas.openxmlformats.org/drawingml/2006/main" noGrp="1"/>
          </p:cNvSpPr>
          <p:nvPr/>
        </p:nvSpPr>
        <p:spPr>
          <a:xfrm xmlns:a="http://schemas.openxmlformats.org/drawingml/2006/main">
            <a:off x="366712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8B7301-4508-4745-9399-98C393B4DBDD}"/>
              </a:ext>
            </a:extLst>
          </p:cNvPr>
          <p:cNvSpPr>
            <a:spLocks xmlns:a="http://schemas.openxmlformats.org/drawingml/2006/main" noGrp="1"/>
          </p:cNvSpPr>
          <p:nvPr/>
        </p:nvSpPr>
        <p:spPr>
          <a:xfrm xmlns:a="http://schemas.openxmlformats.org/drawingml/2006/main">
            <a:off x="366712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428B3DD3-C36E-49A0-9DB2-A61E6BEEAC36}"/>
              </a:ext>
            </a:extLst>
          </p:cNvPr>
          <p:cNvSpPr>
            <a:spLocks xmlns:a="http://schemas.openxmlformats.org/drawingml/2006/main" noGrp="1"/>
          </p:cNvSpPr>
          <p:nvPr/>
        </p:nvSpPr>
        <p:spPr>
          <a:xfrm xmlns:a="http://schemas.openxmlformats.org/drawingml/2006/main">
            <a:off x="337185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Assign</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context</a:t>
            </a:r>
          </a:p>
        </p:txBody>
      </p:sp>
      <p:sp>
        <p:nvSpPr>
          <p:cNvPr id="18" name="">
            <a:extLst xmlns:a="http://schemas.openxmlformats.org/drawingml/2006/main">
              <a:ext uri="{FF2B5EF4-FFF2-40B4-BE49-F238E27FC236}">
                <a16:creationId xmlns:a16="http://schemas.microsoft.com/office/drawing/2014/main" id="{B61F5F60-71CE-4A55-AFC4-BAE1CAE5817A}"/>
              </a:ext>
            </a:extLst>
          </p:cNvPr>
          <p:cNvSpPr>
            <a:spLocks xmlns:a="http://schemas.openxmlformats.org/drawingml/2006/main" noGrp="1"/>
          </p:cNvSpPr>
          <p:nvPr/>
        </p:nvSpPr>
        <p:spPr>
          <a:xfrm xmlns:a="http://schemas.openxmlformats.org/drawingml/2006/main">
            <a:off x="509587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8A4257-B328-4B7B-AB99-9C868726B748}"/>
              </a:ext>
            </a:extLst>
          </p:cNvPr>
          <p:cNvSpPr>
            <a:spLocks xmlns:a="http://schemas.openxmlformats.org/drawingml/2006/main" noGrp="1"/>
          </p:cNvSpPr>
          <p:nvPr/>
        </p:nvSpPr>
        <p:spPr>
          <a:xfrm xmlns:a="http://schemas.openxmlformats.org/drawingml/2006/main">
            <a:off x="509587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66E72E05-C78F-454C-A25F-B51B9BA9DAC2}"/>
              </a:ext>
            </a:extLst>
          </p:cNvPr>
          <p:cNvSpPr>
            <a:spLocks xmlns:a="http://schemas.openxmlformats.org/drawingml/2006/main" noGrp="1"/>
          </p:cNvSpPr>
          <p:nvPr/>
        </p:nvSpPr>
        <p:spPr>
          <a:xfrm xmlns:a="http://schemas.openxmlformats.org/drawingml/2006/main">
            <a:off x="480060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Inspect</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process</a:t>
            </a:r>
          </a:p>
        </p:txBody>
      </p:sp>
      <p:sp>
        <p:nvSpPr>
          <p:cNvPr id="21" name="">
            <a:extLst xmlns:a="http://schemas.openxmlformats.org/drawingml/2006/main">
              <a:ext uri="{FF2B5EF4-FFF2-40B4-BE49-F238E27FC236}">
                <a16:creationId xmlns:a16="http://schemas.microsoft.com/office/drawing/2014/main" id="{047916F2-2094-4016-BC87-AE4159247891}"/>
              </a:ext>
            </a:extLst>
          </p:cNvPr>
          <p:cNvSpPr>
            <a:spLocks xmlns:a="http://schemas.openxmlformats.org/drawingml/2006/main" noGrp="1"/>
          </p:cNvSpPr>
          <p:nvPr/>
        </p:nvSpPr>
        <p:spPr>
          <a:xfrm xmlns:a="http://schemas.openxmlformats.org/drawingml/2006/main">
            <a:off x="652462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A098B67-B10F-4188-B283-45792671C0E8}"/>
              </a:ext>
            </a:extLst>
          </p:cNvPr>
          <p:cNvSpPr>
            <a:spLocks xmlns:a="http://schemas.openxmlformats.org/drawingml/2006/main" noGrp="1"/>
          </p:cNvSpPr>
          <p:nvPr/>
        </p:nvSpPr>
        <p:spPr>
          <a:xfrm xmlns:a="http://schemas.openxmlformats.org/drawingml/2006/main">
            <a:off x="652462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8CF7E885-3CD3-44CE-917B-40B0A32B2F31}"/>
              </a:ext>
            </a:extLst>
          </p:cNvPr>
          <p:cNvSpPr>
            <a:spLocks xmlns:a="http://schemas.openxmlformats.org/drawingml/2006/main" noGrp="1"/>
          </p:cNvSpPr>
          <p:nvPr/>
        </p:nvSpPr>
        <p:spPr>
          <a:xfrm xmlns:a="http://schemas.openxmlformats.org/drawingml/2006/main">
            <a:off x="622935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Generate</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rule</a:t>
            </a:r>
          </a:p>
        </p:txBody>
      </p:sp>
      <p:sp>
        <p:nvSpPr>
          <p:cNvPr id="24" name="">
            <a:extLst xmlns:a="http://schemas.openxmlformats.org/drawingml/2006/main">
              <a:ext uri="{FF2B5EF4-FFF2-40B4-BE49-F238E27FC236}">
                <a16:creationId xmlns:a16="http://schemas.microsoft.com/office/drawing/2014/main" id="{FA1D6379-B397-4458-B833-F2205ED6B671}"/>
              </a:ext>
            </a:extLst>
          </p:cNvPr>
          <p:cNvSpPr>
            <a:spLocks xmlns:a="http://schemas.openxmlformats.org/drawingml/2006/main" noGrp="1"/>
          </p:cNvSpPr>
          <p:nvPr/>
        </p:nvSpPr>
        <p:spPr>
          <a:xfrm xmlns:a="http://schemas.openxmlformats.org/drawingml/2006/main">
            <a:off x="795337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4892B75-02A3-4F1F-8B06-78C7235AEF0B}"/>
              </a:ext>
            </a:extLst>
          </p:cNvPr>
          <p:cNvSpPr>
            <a:spLocks xmlns:a="http://schemas.openxmlformats.org/drawingml/2006/main" noGrp="1"/>
          </p:cNvSpPr>
          <p:nvPr/>
        </p:nvSpPr>
        <p:spPr>
          <a:xfrm xmlns:a="http://schemas.openxmlformats.org/drawingml/2006/main">
            <a:off x="795337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6" name="">
            <a:extLst xmlns:a="http://schemas.openxmlformats.org/drawingml/2006/main">
              <a:ext uri="{FF2B5EF4-FFF2-40B4-BE49-F238E27FC236}">
                <a16:creationId xmlns:a16="http://schemas.microsoft.com/office/drawing/2014/main" id="{8804E7CE-4F00-445C-994E-F62413F63AE8}"/>
              </a:ext>
            </a:extLst>
          </p:cNvPr>
          <p:cNvSpPr>
            <a:spLocks xmlns:a="http://schemas.openxmlformats.org/drawingml/2006/main" noGrp="1"/>
          </p:cNvSpPr>
          <p:nvPr/>
        </p:nvSpPr>
        <p:spPr>
          <a:xfrm xmlns:a="http://schemas.openxmlformats.org/drawingml/2006/main">
            <a:off x="765810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Review</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rule</a:t>
            </a:r>
          </a:p>
        </p:txBody>
      </p:sp>
      <p:sp>
        <p:nvSpPr>
          <p:cNvPr id="27" name="">
            <a:extLst xmlns:a="http://schemas.openxmlformats.org/drawingml/2006/main">
              <a:ext uri="{FF2B5EF4-FFF2-40B4-BE49-F238E27FC236}">
                <a16:creationId xmlns:a16="http://schemas.microsoft.com/office/drawing/2014/main" id="{51AC83DE-36B9-4AA6-9194-80048B3A4510}"/>
              </a:ext>
            </a:extLst>
          </p:cNvPr>
          <p:cNvSpPr>
            <a:spLocks xmlns:a="http://schemas.openxmlformats.org/drawingml/2006/main" noGrp="1"/>
          </p:cNvSpPr>
          <p:nvPr/>
        </p:nvSpPr>
        <p:spPr>
          <a:xfrm xmlns:a="http://schemas.openxmlformats.org/drawingml/2006/main">
            <a:off x="9382125" y="2667000"/>
            <a:ext cx="514350" cy="514350"/>
          </a:xfrm>
          <a:prstGeom xmlns:a="http://schemas.openxmlformats.org/drawingml/2006/main" prst="ellipse">
            <a:avLst/>
          </a:prstGeom>
          <a:solidFill xmlns:a="http://schemas.openxmlformats.org/drawingml/2006/main">
            <a:srgbClr val="1766E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2D51513-6CF5-417B-B17A-F001B3CF5D15}"/>
              </a:ext>
            </a:extLst>
          </p:cNvPr>
          <p:cNvSpPr>
            <a:spLocks xmlns:a="http://schemas.openxmlformats.org/drawingml/2006/main" noGrp="1"/>
          </p:cNvSpPr>
          <p:nvPr/>
        </p:nvSpPr>
        <p:spPr>
          <a:xfrm xmlns:a="http://schemas.openxmlformats.org/drawingml/2006/main">
            <a:off x="938212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6</a:t>
            </a:r>
          </a:p>
        </p:txBody>
      </p:sp>
      <p:sp>
        <p:nvSpPr>
          <p:cNvPr id="29" name="">
            <a:extLst xmlns:a="http://schemas.openxmlformats.org/drawingml/2006/main">
              <a:ext uri="{FF2B5EF4-FFF2-40B4-BE49-F238E27FC236}">
                <a16:creationId xmlns:a16="http://schemas.microsoft.com/office/drawing/2014/main" id="{B9DBEE77-BF56-4D8F-AEC4-2E51478006B8}"/>
              </a:ext>
            </a:extLst>
          </p:cNvPr>
          <p:cNvSpPr>
            <a:spLocks xmlns:a="http://schemas.openxmlformats.org/drawingml/2006/main" noGrp="1"/>
          </p:cNvSpPr>
          <p:nvPr/>
        </p:nvSpPr>
        <p:spPr>
          <a:xfrm xmlns:a="http://schemas.openxmlformats.org/drawingml/2006/main">
            <a:off x="908685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Material</a:t>
            </a:r>
          </a:p>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selection</a:t>
            </a:r>
          </a:p>
        </p:txBody>
      </p:sp>
      <p:sp>
        <p:nvSpPr>
          <p:cNvPr id="30" name="">
            <a:extLst xmlns:a="http://schemas.openxmlformats.org/drawingml/2006/main">
              <a:ext uri="{FF2B5EF4-FFF2-40B4-BE49-F238E27FC236}">
                <a16:creationId xmlns:a16="http://schemas.microsoft.com/office/drawing/2014/main" id="{1E4CC1B6-5186-4F22-885A-BB1B5B1D6428}"/>
              </a:ext>
            </a:extLst>
          </p:cNvPr>
          <p:cNvSpPr>
            <a:spLocks xmlns:a="http://schemas.openxmlformats.org/drawingml/2006/main" noGrp="1"/>
          </p:cNvSpPr>
          <p:nvPr/>
        </p:nvSpPr>
        <p:spPr>
          <a:xfrm xmlns:a="http://schemas.openxmlformats.org/drawingml/2006/main">
            <a:off x="10810875" y="2667000"/>
            <a:ext cx="514350" cy="514350"/>
          </a:xfrm>
          <a:prstGeom xmlns:a="http://schemas.openxmlformats.org/drawingml/2006/main" prst="ellipse">
            <a:avLst/>
          </a:prstGeom>
          <a:solidFill xmlns:a="http://schemas.openxmlformats.org/drawingml/2006/main">
            <a:srgbClr val="08265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5089753-264C-4457-81F6-665D6AE85BCA}"/>
              </a:ext>
            </a:extLst>
          </p:cNvPr>
          <p:cNvSpPr>
            <a:spLocks xmlns:a="http://schemas.openxmlformats.org/drawingml/2006/main" noGrp="1"/>
          </p:cNvSpPr>
          <p:nvPr/>
        </p:nvSpPr>
        <p:spPr>
          <a:xfrm xmlns:a="http://schemas.openxmlformats.org/drawingml/2006/main">
            <a:off x="10810875" y="27527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7</a:t>
            </a:r>
          </a:p>
        </p:txBody>
      </p:sp>
      <p:sp>
        <p:nvSpPr>
          <p:cNvPr id="32" name="">
            <a:extLst xmlns:a="http://schemas.openxmlformats.org/drawingml/2006/main">
              <a:ext uri="{FF2B5EF4-FFF2-40B4-BE49-F238E27FC236}">
                <a16:creationId xmlns:a16="http://schemas.microsoft.com/office/drawing/2014/main" id="{504E0D09-41E5-4D2E-AEE3-B4D51DF5EBB3}"/>
              </a:ext>
            </a:extLst>
          </p:cNvPr>
          <p:cNvSpPr>
            <a:spLocks xmlns:a="http://schemas.openxmlformats.org/drawingml/2006/main" noGrp="1"/>
          </p:cNvSpPr>
          <p:nvPr/>
        </p:nvSpPr>
        <p:spPr>
          <a:xfrm xmlns:a="http://schemas.openxmlformats.org/drawingml/2006/main">
            <a:off x="10515600" y="3333750"/>
            <a:ext cx="110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08265B"/>
                </a:solidFill>
                <a:latin typeface="Aptos"/>
                <a:ea typeface="Aptos"/>
                <a:cs typeface="Aptos"/>
              </a:defRPr>
            </a:pPr>
            <a:r>
              <a:rPr sz="1200" b="1">
                <a:solidFill>
                  <a:srgbClr val="08265B"/>
                </a:solidFill>
                <a:latin typeface="Aptos"/>
                <a:ea typeface="Aptos"/>
                <a:cs typeface="Aptos"/>
              </a:rPr>
              <a:t>Export</a:t>
            </a:r>
          </a:p>
        </p:txBody>
      </p:sp>
      <p:sp>
        <p:nvSpPr>
          <p:cNvPr id="33" name="">
            <a:extLst xmlns:a="http://schemas.openxmlformats.org/drawingml/2006/main">
              <a:ext uri="{FF2B5EF4-FFF2-40B4-BE49-F238E27FC236}">
                <a16:creationId xmlns:a16="http://schemas.microsoft.com/office/drawing/2014/main" id="{D5A33610-8A36-462A-9BD9-6C95AEA2D296}"/>
              </a:ext>
            </a:extLst>
          </p:cNvPr>
          <p:cNvSpPr>
            <a:spLocks xmlns:a="http://schemas.openxmlformats.org/drawingml/2006/main" noGrp="1"/>
          </p:cNvSpPr>
          <p:nvPr/>
        </p:nvSpPr>
        <p:spPr>
          <a:xfrm xmlns:a="http://schemas.openxmlformats.org/drawingml/2006/main">
            <a:off x="790575" y="42862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INPUT PREPARATION</a:t>
            </a:r>
          </a:p>
        </p:txBody>
      </p:sp>
      <p:sp>
        <p:nvSpPr>
          <p:cNvPr id="34" name="">
            <a:extLst xmlns:a="http://schemas.openxmlformats.org/drawingml/2006/main">
              <a:ext uri="{FF2B5EF4-FFF2-40B4-BE49-F238E27FC236}">
                <a16:creationId xmlns:a16="http://schemas.microsoft.com/office/drawing/2014/main" id="{9EC4F9C7-BEB6-4BC1-9DCD-577DD4E98B71}"/>
              </a:ext>
            </a:extLst>
          </p:cNvPr>
          <p:cNvSpPr>
            <a:spLocks xmlns:a="http://schemas.openxmlformats.org/drawingml/2006/main" noGrp="1"/>
          </p:cNvSpPr>
          <p:nvPr/>
        </p:nvSpPr>
        <p:spPr>
          <a:xfrm xmlns:a="http://schemas.openxmlformats.org/drawingml/2006/main">
            <a:off x="790575" y="45529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Confirm workbook sheets, load the VSM, and bind each page to Plant + CRID.</a:t>
            </a:r>
          </a:p>
        </p:txBody>
      </p:sp>
      <p:sp>
        <p:nvSpPr>
          <p:cNvPr id="35" name="">
            <a:extLst xmlns:a="http://schemas.openxmlformats.org/drawingml/2006/main">
              <a:ext uri="{FF2B5EF4-FFF2-40B4-BE49-F238E27FC236}">
                <a16:creationId xmlns:a16="http://schemas.microsoft.com/office/drawing/2014/main" id="{F69FD53D-E306-4C96-AB7C-CA2811F68D29}"/>
              </a:ext>
            </a:extLst>
          </p:cNvPr>
          <p:cNvSpPr>
            <a:spLocks xmlns:a="http://schemas.openxmlformats.org/drawingml/2006/main" noGrp="1"/>
          </p:cNvSpPr>
          <p:nvPr/>
        </p:nvSpPr>
        <p:spPr>
          <a:xfrm xmlns:a="http://schemas.openxmlformats.org/drawingml/2006/main">
            <a:off x="4695825" y="42862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RULE PREPARATION</a:t>
            </a:r>
          </a:p>
        </p:txBody>
      </p:sp>
      <p:sp>
        <p:nvSpPr>
          <p:cNvPr id="36" name="">
            <a:extLst xmlns:a="http://schemas.openxmlformats.org/drawingml/2006/main">
              <a:ext uri="{FF2B5EF4-FFF2-40B4-BE49-F238E27FC236}">
                <a16:creationId xmlns:a16="http://schemas.microsoft.com/office/drawing/2014/main" id="{12515040-6859-498B-BBC5-EAF34F187180}"/>
              </a:ext>
            </a:extLst>
          </p:cNvPr>
          <p:cNvSpPr>
            <a:spLocks xmlns:a="http://schemas.openxmlformats.org/drawingml/2006/main" noGrp="1"/>
          </p:cNvSpPr>
          <p:nvPr/>
        </p:nvSpPr>
        <p:spPr>
          <a:xfrm xmlns:a="http://schemas.openxmlformats.org/drawingml/2006/main">
            <a:off x="4695825" y="45529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Inspect workcentres, generate draft rules, and resolve ambiguous mappings.</a:t>
            </a:r>
          </a:p>
        </p:txBody>
      </p:sp>
      <p:sp>
        <p:nvSpPr>
          <p:cNvPr id="37" name="">
            <a:extLst xmlns:a="http://schemas.openxmlformats.org/drawingml/2006/main">
              <a:ext uri="{FF2B5EF4-FFF2-40B4-BE49-F238E27FC236}">
                <a16:creationId xmlns:a16="http://schemas.microsoft.com/office/drawing/2014/main" id="{6C016811-1B1F-4D7E-A84B-05AEF808D079}"/>
              </a:ext>
            </a:extLst>
          </p:cNvPr>
          <p:cNvSpPr>
            <a:spLocks xmlns:a="http://schemas.openxmlformats.org/drawingml/2006/main" noGrp="1"/>
          </p:cNvSpPr>
          <p:nvPr/>
        </p:nvSpPr>
        <p:spPr>
          <a:xfrm xmlns:a="http://schemas.openxmlformats.org/drawingml/2006/main">
            <a:off x="8124825" y="42862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OUTPUT PREPARATION</a:t>
            </a:r>
          </a:p>
        </p:txBody>
      </p:sp>
      <p:sp>
        <p:nvSpPr>
          <p:cNvPr id="38" name="">
            <a:extLst xmlns:a="http://schemas.openxmlformats.org/drawingml/2006/main">
              <a:ext uri="{FF2B5EF4-FFF2-40B4-BE49-F238E27FC236}">
                <a16:creationId xmlns:a16="http://schemas.microsoft.com/office/drawing/2014/main" id="{FD112CC1-A045-4133-98AB-70C5226143A2}"/>
              </a:ext>
            </a:extLst>
          </p:cNvPr>
          <p:cNvSpPr>
            <a:spLocks xmlns:a="http://schemas.openxmlformats.org/drawingml/2006/main" noGrp="1"/>
          </p:cNvSpPr>
          <p:nvPr/>
        </p:nvSpPr>
        <p:spPr>
          <a:xfrm xmlns:a="http://schemas.openxmlformats.org/drawingml/2006/main">
            <a:off x="8124825" y="45529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Generate material candidates and export templates or a complete package.</a:t>
            </a:r>
          </a:p>
        </p:txBody>
      </p:sp>
      <p:sp>
        <p:nvSpPr>
          <p:cNvPr id="39" name="">
            <a:extLst xmlns:a="http://schemas.openxmlformats.org/drawingml/2006/main">
              <a:ext uri="{FF2B5EF4-FFF2-40B4-BE49-F238E27FC236}">
                <a16:creationId xmlns:a16="http://schemas.microsoft.com/office/drawing/2014/main" id="{43E57B39-EE25-4305-9AC7-1506321E3A57}"/>
              </a:ext>
            </a:extLst>
          </p:cNvPr>
          <p:cNvSpPr>
            <a:spLocks xmlns:a="http://schemas.openxmlformats.org/drawingml/2006/main" noGrp="1"/>
          </p:cNvSpPr>
          <p:nvPr/>
        </p:nvSpPr>
        <p:spPr>
          <a:xfrm xmlns:a="http://schemas.openxmlformats.org/drawingml/2006/main">
            <a:off x="790575" y="5638800"/>
            <a:ext cx="10477500" cy="523875"/>
          </a:xfrm>
          <a:prstGeom xmlns:a="http://schemas.openxmlformats.org/drawingml/2006/main" prst="roundRect">
            <a:avLst>
              <a:gd name="adj" fmla="val 14545"/>
            </a:avLst>
          </a:prstGeom>
          <a:solidFill xmlns:a="http://schemas.openxmlformats.org/drawingml/2006/main">
            <a:srgbClr val="DDEB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2A4BB72-5C7F-4AA3-A95F-3265C1DB1D31}"/>
              </a:ext>
            </a:extLst>
          </p:cNvPr>
          <p:cNvSpPr>
            <a:spLocks xmlns:a="http://schemas.openxmlformats.org/drawingml/2006/main" noGrp="1"/>
          </p:cNvSpPr>
          <p:nvPr/>
        </p:nvSpPr>
        <p:spPr>
          <a:xfrm xmlns:a="http://schemas.openxmlformats.org/drawingml/2006/main">
            <a:off x="1000125" y="5791200"/>
            <a:ext cx="1004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08265B"/>
                </a:solidFill>
                <a:latin typeface="Aptos"/>
                <a:ea typeface="Aptos"/>
                <a:cs typeface="Aptos"/>
              </a:defRPr>
            </a:pPr>
            <a:r>
              <a:rPr sz="1500" b="1">
                <a:solidFill>
                  <a:srgbClr val="08265B"/>
                </a:solidFill>
                <a:latin typeface="Aptos"/>
                <a:ea typeface="Aptos"/>
                <a:cs typeface="Aptos"/>
              </a:rPr>
              <a:t>Control principle: the app proposes; the manufacturing process owner approves.</a:t>
            </a:r>
          </a:p>
        </p:txBody>
      </p:sp>
    </p:spTree>
    <p:extLst>
      <p:ext uri="{BB962C8B-B14F-4D97-AF65-F5344CB8AC3E}">
        <p14:creationId xmlns:p14="http://schemas.microsoft.com/office/powerpoint/2010/main" val="11144246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1A69AE-4490-4FB6-876E-A7320204FEA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6E31C0-DC5E-48A2-988C-6870C6415F7D}"/>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0 OF 7</a:t>
            </a:r>
          </a:p>
        </p:txBody>
      </p:sp>
      <p:sp>
        <p:nvSpPr>
          <p:cNvPr id="3" name="">
            <a:extLst xmlns:a="http://schemas.openxmlformats.org/drawingml/2006/main">
              <a:ext uri="{FF2B5EF4-FFF2-40B4-BE49-F238E27FC236}">
                <a16:creationId xmlns:a16="http://schemas.microsoft.com/office/drawing/2014/main" id="{522B7719-668D-4A49-B878-A3654F9952CD}"/>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Confirm the three data sources</a:t>
            </a:r>
          </a:p>
        </p:txBody>
      </p:sp>
      <p:sp>
        <p:nvSpPr>
          <p:cNvPr id="4" name="">
            <a:extLst xmlns:a="http://schemas.openxmlformats.org/drawingml/2006/main">
              <a:ext uri="{FF2B5EF4-FFF2-40B4-BE49-F238E27FC236}">
                <a16:creationId xmlns:a16="http://schemas.microsoft.com/office/drawing/2014/main" id="{7BF4265D-C025-4DE4-870A-CEA5B2ABEEE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D79D82-03B1-4E48-B3CB-9016E6537A60}"/>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971CDFE7-74DB-4B98-AB98-72FE438ED6CD}"/>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3</a:t>
            </a:r>
          </a:p>
        </p:txBody>
      </p:sp>
      <p:sp>
        <p:nvSpPr>
          <p:cNvPr id="7" name="">
            <a:extLst xmlns:a="http://schemas.openxmlformats.org/drawingml/2006/main">
              <a:ext uri="{FF2B5EF4-FFF2-40B4-BE49-F238E27FC236}">
                <a16:creationId xmlns:a16="http://schemas.microsoft.com/office/drawing/2014/main" id="{71DAC307-0CF9-45EF-82C0-97615B4010F4}"/>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0</a:t>
            </a:r>
          </a:p>
        </p:txBody>
      </p:sp>
      <p:sp>
        <p:nvSpPr>
          <p:cNvPr id="8" name="">
            <a:extLst xmlns:a="http://schemas.openxmlformats.org/drawingml/2006/main">
              <a:ext uri="{FF2B5EF4-FFF2-40B4-BE49-F238E27FC236}">
                <a16:creationId xmlns:a16="http://schemas.microsoft.com/office/drawing/2014/main" id="{29A21ACB-3875-4AF3-A2DD-8FB065627B83}"/>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Data sources</a:t>
            </a:r>
          </a:p>
        </p:txBody>
      </p:sp>
      <p:sp>
        <p:nvSpPr>
          <p:cNvPr id="9" name="">
            <a:extLst xmlns:a="http://schemas.openxmlformats.org/drawingml/2006/main">
              <a:ext uri="{FF2B5EF4-FFF2-40B4-BE49-F238E27FC236}">
                <a16:creationId xmlns:a16="http://schemas.microsoft.com/office/drawing/2014/main" id="{F62DB015-9EC5-49D2-9EC4-D3E602996B4C}"/>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Establish one trusted source set before any VSM is loaded.</a:t>
            </a:r>
          </a:p>
        </p:txBody>
      </p:sp>
      <p:sp>
        <p:nvSpPr>
          <p:cNvPr id="10" name="">
            <a:extLst xmlns:a="http://schemas.openxmlformats.org/drawingml/2006/main">
              <a:ext uri="{FF2B5EF4-FFF2-40B4-BE49-F238E27FC236}">
                <a16:creationId xmlns:a16="http://schemas.microsoft.com/office/drawing/2014/main" id="{2229707E-916B-4537-93BE-632DE069E704}"/>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5C61709D-7DD5-4B1B-B4A9-BD1223E99C71}"/>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Workbook identity and the exact sheet selected for every required dataset.</a:t>
            </a:r>
          </a:p>
        </p:txBody>
      </p:sp>
      <p:sp>
        <p:nvSpPr>
          <p:cNvPr id="12" name="">
            <a:extLst xmlns:a="http://schemas.openxmlformats.org/drawingml/2006/main">
              <a:ext uri="{FF2B5EF4-FFF2-40B4-BE49-F238E27FC236}">
                <a16:creationId xmlns:a16="http://schemas.microsoft.com/office/drawing/2014/main" id="{40CF9E9C-546B-499E-96C2-99A3F9B2BC01}"/>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3F2FF1-C33A-4CF5-904A-4CEE4FEDE787}"/>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13,570 routing variants • 242 WorkCenter mappings • 171 MRP codes • 10 supervisor Plant/code pairs</a:t>
            </a:r>
          </a:p>
        </p:txBody>
      </p:sp>
      <p:sp>
        <p:nvSpPr>
          <p:cNvPr id="14" name="">
            <a:extLst xmlns:a="http://schemas.openxmlformats.org/drawingml/2006/main">
              <a:ext uri="{FF2B5EF4-FFF2-40B4-BE49-F238E27FC236}">
                <a16:creationId xmlns:a16="http://schemas.microsoft.com/office/drawing/2014/main" id="{6EE7CA1E-A895-4E00-836B-1E5FD6AF8D2C}"/>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ed61a5ff393478a"/>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10917083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C27969-FD11-4BDE-B3EA-F8A18AB2104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683933-4A96-4F6C-A6DC-8E4CDA2B40C1}"/>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1 OF 7</a:t>
            </a:r>
          </a:p>
        </p:txBody>
      </p:sp>
      <p:sp>
        <p:nvSpPr>
          <p:cNvPr id="3" name="">
            <a:extLst xmlns:a="http://schemas.openxmlformats.org/drawingml/2006/main">
              <a:ext uri="{FF2B5EF4-FFF2-40B4-BE49-F238E27FC236}">
                <a16:creationId xmlns:a16="http://schemas.microsoft.com/office/drawing/2014/main" id="{D8DC2D04-5F94-4A1E-A024-9F1298C1F0A4}"/>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Load the VSM and assign its Plant</a:t>
            </a:r>
          </a:p>
        </p:txBody>
      </p:sp>
      <p:sp>
        <p:nvSpPr>
          <p:cNvPr id="4" name="">
            <a:extLst xmlns:a="http://schemas.openxmlformats.org/drawingml/2006/main">
              <a:ext uri="{FF2B5EF4-FFF2-40B4-BE49-F238E27FC236}">
                <a16:creationId xmlns:a16="http://schemas.microsoft.com/office/drawing/2014/main" id="{2395CBB9-6EB5-4F12-A991-4E6F8C09C86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282A02-E6C7-4F53-8B06-89254E88B774}"/>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240C2C4D-52F1-4DEF-8CF6-99CF53AB5781}"/>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4</a:t>
            </a:r>
          </a:p>
        </p:txBody>
      </p:sp>
      <p:sp>
        <p:nvSpPr>
          <p:cNvPr id="7" name="">
            <a:extLst xmlns:a="http://schemas.openxmlformats.org/drawingml/2006/main">
              <a:ext uri="{FF2B5EF4-FFF2-40B4-BE49-F238E27FC236}">
                <a16:creationId xmlns:a16="http://schemas.microsoft.com/office/drawing/2014/main" id="{1C726F2D-052F-45CC-BA9F-D084225F3AFE}"/>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41C71317-ACE9-4368-92DB-401CA7FC41D7}"/>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Load VSM</a:t>
            </a:r>
          </a:p>
        </p:txBody>
      </p:sp>
      <p:sp>
        <p:nvSpPr>
          <p:cNvPr id="9" name="">
            <a:extLst xmlns:a="http://schemas.openxmlformats.org/drawingml/2006/main">
              <a:ext uri="{FF2B5EF4-FFF2-40B4-BE49-F238E27FC236}">
                <a16:creationId xmlns:a16="http://schemas.microsoft.com/office/drawing/2014/main" id="{B58FC3C9-9AFA-4702-8A36-2C7FAB783804}"/>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Add the process-flow file, scan its pages, and set the Plant context.</a:t>
            </a:r>
          </a:p>
        </p:txBody>
      </p:sp>
      <p:sp>
        <p:nvSpPr>
          <p:cNvPr id="10" name="">
            <a:extLst xmlns:a="http://schemas.openxmlformats.org/drawingml/2006/main">
              <a:ext uri="{FF2B5EF4-FFF2-40B4-BE49-F238E27FC236}">
                <a16:creationId xmlns:a16="http://schemas.microsoft.com/office/drawing/2014/main" id="{44C4543A-3CCB-4102-8F98-EEE5218069D7}"/>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40260921-2411-4872-B123-C111AD627C81}"/>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The intended VSDX file and CA02 as the Plant for this simulation.</a:t>
            </a:r>
          </a:p>
        </p:txBody>
      </p:sp>
      <p:sp>
        <p:nvSpPr>
          <p:cNvPr id="12" name="">
            <a:extLst xmlns:a="http://schemas.openxmlformats.org/drawingml/2006/main">
              <a:ext uri="{FF2B5EF4-FFF2-40B4-BE49-F238E27FC236}">
                <a16:creationId xmlns:a16="http://schemas.microsoft.com/office/drawing/2014/main" id="{735F1836-8A1D-4627-A315-37FD50E58B08}"/>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18C362-AEE5-41BF-8FAC-8B344515B621}"/>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Canada Surrey Process Flows.vsdx • 14 pages detected • file status Analyzed</a:t>
            </a:r>
          </a:p>
        </p:txBody>
      </p:sp>
      <p:sp>
        <p:nvSpPr>
          <p:cNvPr id="14" name="">
            <a:extLst xmlns:a="http://schemas.openxmlformats.org/drawingml/2006/main">
              <a:ext uri="{FF2B5EF4-FFF2-40B4-BE49-F238E27FC236}">
                <a16:creationId xmlns:a16="http://schemas.microsoft.com/office/drawing/2014/main" id="{F3E33C40-BB3D-4C61-8896-C7D286EEF7E9}"/>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7382ab1deae4159"/>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4904878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412A3F-37DC-46E2-9B8D-5671AFECA1E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B04465-0DDE-4E2D-978A-D243C8F79568}"/>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2 OF 7</a:t>
            </a:r>
          </a:p>
        </p:txBody>
      </p:sp>
      <p:sp>
        <p:nvSpPr>
          <p:cNvPr id="3" name="">
            <a:extLst xmlns:a="http://schemas.openxmlformats.org/drawingml/2006/main">
              <a:ext uri="{FF2B5EF4-FFF2-40B4-BE49-F238E27FC236}">
                <a16:creationId xmlns:a16="http://schemas.microsoft.com/office/drawing/2014/main" id="{B8FE86F0-5D37-44A4-92A5-FFA05E221D95}"/>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Assign the Calendar page to its CRID</a:t>
            </a:r>
          </a:p>
        </p:txBody>
      </p:sp>
      <p:sp>
        <p:nvSpPr>
          <p:cNvPr id="4" name="">
            <a:extLst xmlns:a="http://schemas.openxmlformats.org/drawingml/2006/main">
              <a:ext uri="{FF2B5EF4-FFF2-40B4-BE49-F238E27FC236}">
                <a16:creationId xmlns:a16="http://schemas.microsoft.com/office/drawing/2014/main" id="{A18FBFA9-B41B-4068-AA6B-C81FB031740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03AD02-3877-49A4-90A2-5C7188BED5F9}"/>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C914802D-2AC2-4D2A-9B88-E8657066426C}"/>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5</a:t>
            </a:r>
          </a:p>
        </p:txBody>
      </p:sp>
      <p:sp>
        <p:nvSpPr>
          <p:cNvPr id="7" name="">
            <a:extLst xmlns:a="http://schemas.openxmlformats.org/drawingml/2006/main">
              <a:ext uri="{FF2B5EF4-FFF2-40B4-BE49-F238E27FC236}">
                <a16:creationId xmlns:a16="http://schemas.microsoft.com/office/drawing/2014/main" id="{6CF41D1A-0B96-4028-BF54-4CED7131FC07}"/>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2</a:t>
            </a:r>
          </a:p>
        </p:txBody>
      </p:sp>
      <p:sp>
        <p:nvSpPr>
          <p:cNvPr id="8" name="">
            <a:extLst xmlns:a="http://schemas.openxmlformats.org/drawingml/2006/main">
              <a:ext uri="{FF2B5EF4-FFF2-40B4-BE49-F238E27FC236}">
                <a16:creationId xmlns:a16="http://schemas.microsoft.com/office/drawing/2014/main" id="{11CDA26A-FF8A-42DB-AE3A-01C654C49569}"/>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Assign context</a:t>
            </a:r>
          </a:p>
        </p:txBody>
      </p:sp>
      <p:sp>
        <p:nvSpPr>
          <p:cNvPr id="9" name="">
            <a:extLst xmlns:a="http://schemas.openxmlformats.org/drawingml/2006/main">
              <a:ext uri="{FF2B5EF4-FFF2-40B4-BE49-F238E27FC236}">
                <a16:creationId xmlns:a16="http://schemas.microsoft.com/office/drawing/2014/main" id="{FA908CE8-1160-4CB4-BD79-EF21139CD998}"/>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Bind the selected VSM page to the business department used downstream.</a:t>
            </a:r>
          </a:p>
        </p:txBody>
      </p:sp>
      <p:sp>
        <p:nvSpPr>
          <p:cNvPr id="10" name="">
            <a:extLst xmlns:a="http://schemas.openxmlformats.org/drawingml/2006/main">
              <a:ext uri="{FF2B5EF4-FFF2-40B4-BE49-F238E27FC236}">
                <a16:creationId xmlns:a16="http://schemas.microsoft.com/office/drawing/2014/main" id="{9AED57F5-9B00-4D08-A1FE-49CD5E57ED8D}"/>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3F00A00F-7C04-49D1-894F-1953C6291F41}"/>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Calendar - Complete is the intended page and CALENDAR is the correct CRID.</a:t>
            </a:r>
          </a:p>
        </p:txBody>
      </p:sp>
      <p:sp>
        <p:nvSpPr>
          <p:cNvPr id="12" name="">
            <a:extLst xmlns:a="http://schemas.openxmlformats.org/drawingml/2006/main">
              <a:ext uri="{FF2B5EF4-FFF2-40B4-BE49-F238E27FC236}">
                <a16:creationId xmlns:a16="http://schemas.microsoft.com/office/drawing/2014/main" id="{DF39D956-66C8-465A-B03D-8F8DDFE6F8BC}"/>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DBDD739-0B9F-442E-8DBA-0611EF458BBC}"/>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52 shapes • 44 text shapes • 14 connections • 5 workcentres • selected assignment CALENDAR</a:t>
            </a:r>
          </a:p>
        </p:txBody>
      </p:sp>
      <p:sp>
        <p:nvSpPr>
          <p:cNvPr id="14" name="">
            <a:extLst xmlns:a="http://schemas.openxmlformats.org/drawingml/2006/main">
              <a:ext uri="{FF2B5EF4-FFF2-40B4-BE49-F238E27FC236}">
                <a16:creationId xmlns:a16="http://schemas.microsoft.com/office/drawing/2014/main" id="{6875EE4E-CEA0-4EE7-970E-02885AC22F9F}"/>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7eea32596fa42ef"/>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16073295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AB59FD-285E-4739-ADF1-3A238BA7786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7ABE8D-429E-4AF6-9D88-7E101A44A565}"/>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3 OF 7</a:t>
            </a:r>
          </a:p>
        </p:txBody>
      </p:sp>
      <p:sp>
        <p:nvSpPr>
          <p:cNvPr id="3" name="">
            <a:extLst xmlns:a="http://schemas.openxmlformats.org/drawingml/2006/main">
              <a:ext uri="{FF2B5EF4-FFF2-40B4-BE49-F238E27FC236}">
                <a16:creationId xmlns:a16="http://schemas.microsoft.com/office/drawing/2014/main" id="{FB0BB84E-360E-460C-8A1A-3365AC5F81CC}"/>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Inspect the process before generating rules</a:t>
            </a:r>
          </a:p>
        </p:txBody>
      </p:sp>
      <p:sp>
        <p:nvSpPr>
          <p:cNvPr id="4" name="">
            <a:extLst xmlns:a="http://schemas.openxmlformats.org/drawingml/2006/main">
              <a:ext uri="{FF2B5EF4-FFF2-40B4-BE49-F238E27FC236}">
                <a16:creationId xmlns:a16="http://schemas.microsoft.com/office/drawing/2014/main" id="{5405A07D-B022-4D4A-B839-C8DAEF86178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09BAF8-90BB-4608-9154-DC36EDD81F85}"/>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D8F7A52E-870A-4025-8187-9FDC1C45BF6E}"/>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6</a:t>
            </a:r>
          </a:p>
        </p:txBody>
      </p:sp>
      <p:sp>
        <p:nvSpPr>
          <p:cNvPr id="7" name="">
            <a:extLst xmlns:a="http://schemas.openxmlformats.org/drawingml/2006/main">
              <a:ext uri="{FF2B5EF4-FFF2-40B4-BE49-F238E27FC236}">
                <a16:creationId xmlns:a16="http://schemas.microsoft.com/office/drawing/2014/main" id="{DABCDA8D-7477-4269-83AA-A5376DFAAEC3}"/>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3</a:t>
            </a:r>
          </a:p>
        </p:txBody>
      </p:sp>
      <p:sp>
        <p:nvSpPr>
          <p:cNvPr id="8" name="">
            <a:extLst xmlns:a="http://schemas.openxmlformats.org/drawingml/2006/main">
              <a:ext uri="{FF2B5EF4-FFF2-40B4-BE49-F238E27FC236}">
                <a16:creationId xmlns:a16="http://schemas.microsoft.com/office/drawing/2014/main" id="{2A67C30D-A6C2-451F-A462-F50B62C4A600}"/>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Inspect process</a:t>
            </a:r>
          </a:p>
        </p:txBody>
      </p:sp>
      <p:sp>
        <p:nvSpPr>
          <p:cNvPr id="9" name="">
            <a:extLst xmlns:a="http://schemas.openxmlformats.org/drawingml/2006/main">
              <a:ext uri="{FF2B5EF4-FFF2-40B4-BE49-F238E27FC236}">
                <a16:creationId xmlns:a16="http://schemas.microsoft.com/office/drawing/2014/main" id="{85ACBE94-0D35-43B3-B1C8-A0EA556035AA}"/>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Review the visual sequence and detected workcentres against the mapping context.</a:t>
            </a:r>
          </a:p>
        </p:txBody>
      </p:sp>
      <p:sp>
        <p:nvSpPr>
          <p:cNvPr id="10" name="">
            <a:extLst xmlns:a="http://schemas.openxmlformats.org/drawingml/2006/main">
              <a:ext uri="{FF2B5EF4-FFF2-40B4-BE49-F238E27FC236}">
                <a16:creationId xmlns:a16="http://schemas.microsoft.com/office/drawing/2014/main" id="{5B8CE324-AA52-4A4A-AD6B-899EA07FE3B1}"/>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1ED8CF33-AE60-4124-90D7-FB8F6BE96759}"/>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The diagram is the right process and its five workcentres are credible inputs.</a:t>
            </a:r>
          </a:p>
        </p:txBody>
      </p:sp>
      <p:sp>
        <p:nvSpPr>
          <p:cNvPr id="12" name="">
            <a:extLst xmlns:a="http://schemas.openxmlformats.org/drawingml/2006/main">
              <a:ext uri="{FF2B5EF4-FFF2-40B4-BE49-F238E27FC236}">
                <a16:creationId xmlns:a16="http://schemas.microsoft.com/office/drawing/2014/main" id="{1A26A7C7-9978-4D08-871B-D97FF7C141F9}"/>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76E02B-24A2-4FB5-A916-51992CFFB158}"/>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Visual preview of Calendar - Complete with process text, connectors, sequence and workcentre labels</a:t>
            </a:r>
          </a:p>
        </p:txBody>
      </p:sp>
      <p:sp>
        <p:nvSpPr>
          <p:cNvPr id="14" name="">
            <a:extLst xmlns:a="http://schemas.openxmlformats.org/drawingml/2006/main">
              <a:ext uri="{FF2B5EF4-FFF2-40B4-BE49-F238E27FC236}">
                <a16:creationId xmlns:a16="http://schemas.microsoft.com/office/drawing/2014/main" id="{F4F7396F-053A-4AE6-96B5-9DDE8C7AB12D}"/>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a7493ee54134593"/>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1600954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53F08C-53E1-4ADA-AF6B-0D4C5506A26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7DAA4-39CD-4F4E-8AA2-E817F93E21FA}"/>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4 OF 7</a:t>
            </a:r>
          </a:p>
        </p:txBody>
      </p:sp>
      <p:sp>
        <p:nvSpPr>
          <p:cNvPr id="3" name="">
            <a:extLst xmlns:a="http://schemas.openxmlformats.org/drawingml/2006/main">
              <a:ext uri="{FF2B5EF4-FFF2-40B4-BE49-F238E27FC236}">
                <a16:creationId xmlns:a16="http://schemas.microsoft.com/office/drawing/2014/main" id="{D21BAF46-5C09-47A1-ABFC-FBD0E9F1583C}"/>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Generate the draft Change Rule</a:t>
            </a:r>
          </a:p>
        </p:txBody>
      </p:sp>
      <p:sp>
        <p:nvSpPr>
          <p:cNvPr id="4" name="">
            <a:extLst xmlns:a="http://schemas.openxmlformats.org/drawingml/2006/main">
              <a:ext uri="{FF2B5EF4-FFF2-40B4-BE49-F238E27FC236}">
                <a16:creationId xmlns:a16="http://schemas.microsoft.com/office/drawing/2014/main" id="{7DDE0A85-39FD-4A76-9A29-84D1A67D8AE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2F9585-91B7-4D32-ADCA-2C8CABAF48B5}"/>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DDCDEDC6-8A9D-4494-BB15-705E738B9121}"/>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7</a:t>
            </a:r>
          </a:p>
        </p:txBody>
      </p:sp>
      <p:sp>
        <p:nvSpPr>
          <p:cNvPr id="7" name="">
            <a:extLst xmlns:a="http://schemas.openxmlformats.org/drawingml/2006/main">
              <a:ext uri="{FF2B5EF4-FFF2-40B4-BE49-F238E27FC236}">
                <a16:creationId xmlns:a16="http://schemas.microsoft.com/office/drawing/2014/main" id="{7A4FFF12-E23B-454C-87A5-8D0F66D5B2D5}"/>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4</a:t>
            </a:r>
          </a:p>
        </p:txBody>
      </p:sp>
      <p:sp>
        <p:nvSpPr>
          <p:cNvPr id="8" name="">
            <a:extLst xmlns:a="http://schemas.openxmlformats.org/drawingml/2006/main">
              <a:ext uri="{FF2B5EF4-FFF2-40B4-BE49-F238E27FC236}">
                <a16:creationId xmlns:a16="http://schemas.microsoft.com/office/drawing/2014/main" id="{3991F7DA-6F49-4DDC-9FE0-36191888E0A6}"/>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Generate rule</a:t>
            </a:r>
          </a:p>
        </p:txBody>
      </p:sp>
      <p:sp>
        <p:nvSpPr>
          <p:cNvPr id="9" name="">
            <a:extLst xmlns:a="http://schemas.openxmlformats.org/drawingml/2006/main">
              <a:ext uri="{FF2B5EF4-FFF2-40B4-BE49-F238E27FC236}">
                <a16:creationId xmlns:a16="http://schemas.microsoft.com/office/drawing/2014/main" id="{2D53346B-0856-4614-A5DC-EC83AE0CC8D2}"/>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Translate VSM workcentres into proposed old-to-new routing assignments.</a:t>
            </a:r>
          </a:p>
        </p:txBody>
      </p:sp>
      <p:sp>
        <p:nvSpPr>
          <p:cNvPr id="10" name="">
            <a:extLst xmlns:a="http://schemas.openxmlformats.org/drawingml/2006/main">
              <a:ext uri="{FF2B5EF4-FFF2-40B4-BE49-F238E27FC236}">
                <a16:creationId xmlns:a16="http://schemas.microsoft.com/office/drawing/2014/main" id="{392685B6-B52D-4DAA-AA20-F725AFD3A541}"/>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3BCFA05A-F08A-45E3-BB4A-179C713FE593}"/>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Generation scope: selected CRID, every CRID for CA02, or all loaded Plants.</a:t>
            </a:r>
          </a:p>
        </p:txBody>
      </p:sp>
      <p:sp>
        <p:nvSpPr>
          <p:cNvPr id="12" name="">
            <a:extLst xmlns:a="http://schemas.openxmlformats.org/drawingml/2006/main">
              <a:ext uri="{FF2B5EF4-FFF2-40B4-BE49-F238E27FC236}">
                <a16:creationId xmlns:a16="http://schemas.microsoft.com/office/drawing/2014/main" id="{812F6F34-FF45-422B-B29A-4AEB52C77426}"/>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E2722B4-28A3-45EE-A5FA-0CFB75C51EAD}"/>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5 Calendar rows generated • 1 Ready • 4 Review • 0 missing OLD WC • readiness 20%</a:t>
            </a:r>
          </a:p>
        </p:txBody>
      </p:sp>
      <p:sp>
        <p:nvSpPr>
          <p:cNvPr id="14" name="">
            <a:extLst xmlns:a="http://schemas.openxmlformats.org/drawingml/2006/main">
              <a:ext uri="{FF2B5EF4-FFF2-40B4-BE49-F238E27FC236}">
                <a16:creationId xmlns:a16="http://schemas.microsoft.com/office/drawing/2014/main" id="{0AB6BD04-58AB-4F70-A663-4AD1C63E2DE4}"/>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0f698f5ed4b41e5"/>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4692887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B7BECB-3970-41CD-BFAD-203D2DA0827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481E96-A526-493C-A375-F8721EF1E5ED}"/>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5 OF 7</a:t>
            </a:r>
          </a:p>
        </p:txBody>
      </p:sp>
      <p:sp>
        <p:nvSpPr>
          <p:cNvPr id="3" name="">
            <a:extLst xmlns:a="http://schemas.openxmlformats.org/drawingml/2006/main">
              <a:ext uri="{FF2B5EF4-FFF2-40B4-BE49-F238E27FC236}">
                <a16:creationId xmlns:a16="http://schemas.microsoft.com/office/drawing/2014/main" id="{3FD630FE-DC94-4FB1-8174-36CB4BD6DA13}"/>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Resolve review-required routing rows</a:t>
            </a:r>
          </a:p>
        </p:txBody>
      </p:sp>
      <p:sp>
        <p:nvSpPr>
          <p:cNvPr id="4" name="">
            <a:extLst xmlns:a="http://schemas.openxmlformats.org/drawingml/2006/main">
              <a:ext uri="{FF2B5EF4-FFF2-40B4-BE49-F238E27FC236}">
                <a16:creationId xmlns:a16="http://schemas.microsoft.com/office/drawing/2014/main" id="{95EBB3DC-4031-495A-8342-4D26ED7A5FC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5C1B00-871C-4219-AD98-88A531617BDB}"/>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29840F50-8653-486A-8B68-00AA44C995C4}"/>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8</a:t>
            </a:r>
          </a:p>
        </p:txBody>
      </p:sp>
      <p:sp>
        <p:nvSpPr>
          <p:cNvPr id="7" name="">
            <a:extLst xmlns:a="http://schemas.openxmlformats.org/drawingml/2006/main">
              <a:ext uri="{FF2B5EF4-FFF2-40B4-BE49-F238E27FC236}">
                <a16:creationId xmlns:a16="http://schemas.microsoft.com/office/drawing/2014/main" id="{C9E87926-BD6F-4292-95B7-70E5B53001D5}"/>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5</a:t>
            </a:r>
          </a:p>
        </p:txBody>
      </p:sp>
      <p:sp>
        <p:nvSpPr>
          <p:cNvPr id="8" name="">
            <a:extLst xmlns:a="http://schemas.openxmlformats.org/drawingml/2006/main">
              <a:ext uri="{FF2B5EF4-FFF2-40B4-BE49-F238E27FC236}">
                <a16:creationId xmlns:a16="http://schemas.microsoft.com/office/drawing/2014/main" id="{B02981F6-A9E3-4788-910A-302CA753C6EB}"/>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Review rule</a:t>
            </a:r>
          </a:p>
        </p:txBody>
      </p:sp>
      <p:sp>
        <p:nvSpPr>
          <p:cNvPr id="9" name="">
            <a:extLst xmlns:a="http://schemas.openxmlformats.org/drawingml/2006/main">
              <a:ext uri="{FF2B5EF4-FFF2-40B4-BE49-F238E27FC236}">
                <a16:creationId xmlns:a16="http://schemas.microsoft.com/office/drawing/2014/main" id="{FCBE6C11-5DBA-442F-876F-978AD35F45D4}"/>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Focus attention on ambiguity instead of treating every generated row as final.</a:t>
            </a:r>
          </a:p>
        </p:txBody>
      </p:sp>
      <p:sp>
        <p:nvSpPr>
          <p:cNvPr id="10" name="">
            <a:extLst xmlns:a="http://schemas.openxmlformats.org/drawingml/2006/main">
              <a:ext uri="{FF2B5EF4-FFF2-40B4-BE49-F238E27FC236}">
                <a16:creationId xmlns:a16="http://schemas.microsoft.com/office/drawing/2014/main" id="{6E8201BA-F791-4FEE-8C1E-B5FFDC4EDAD0}"/>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B3C32EA3-8911-4C63-B1F0-03CE9CB8A011}"/>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The correct new workcentre and sequence for each flagged operation.</a:t>
            </a:r>
          </a:p>
        </p:txBody>
      </p:sp>
      <p:sp>
        <p:nvSpPr>
          <p:cNvPr id="12" name="">
            <a:extLst xmlns:a="http://schemas.openxmlformats.org/drawingml/2006/main">
              <a:ext uri="{FF2B5EF4-FFF2-40B4-BE49-F238E27FC236}">
                <a16:creationId xmlns:a16="http://schemas.microsoft.com/office/drawing/2014/main" id="{58E592D0-FFCC-40F3-B74D-F60D2DE4F9AE}"/>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8D66F4-3BD9-404A-BFC1-C944FD1E0E94}"/>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Review Required filter isolates 4 LIST rows for process-owner confirmation</a:t>
            </a:r>
          </a:p>
        </p:txBody>
      </p:sp>
      <p:sp>
        <p:nvSpPr>
          <p:cNvPr id="14" name="">
            <a:extLst xmlns:a="http://schemas.openxmlformats.org/drawingml/2006/main">
              <a:ext uri="{FF2B5EF4-FFF2-40B4-BE49-F238E27FC236}">
                <a16:creationId xmlns:a16="http://schemas.microsoft.com/office/drawing/2014/main" id="{C0EC83B6-9EC9-43BF-A72F-9F702626C180}"/>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6e7f09997d04ed0"/>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7540187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6EAE3A-F1F3-4091-854D-35E66DAB31C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D4D437-F6A7-4B93-9509-A7208520DCFE}"/>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6 OF 7</a:t>
            </a:r>
          </a:p>
        </p:txBody>
      </p:sp>
      <p:sp>
        <p:nvSpPr>
          <p:cNvPr id="3" name="">
            <a:extLst xmlns:a="http://schemas.openxmlformats.org/drawingml/2006/main">
              <a:ext uri="{FF2B5EF4-FFF2-40B4-BE49-F238E27FC236}">
                <a16:creationId xmlns:a16="http://schemas.microsoft.com/office/drawing/2014/main" id="{952841E9-08AD-42AB-B6EF-60F4F6A22C7C}"/>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Generate Material Selection candidates</a:t>
            </a:r>
          </a:p>
        </p:txBody>
      </p:sp>
      <p:sp>
        <p:nvSpPr>
          <p:cNvPr id="4" name="">
            <a:extLst xmlns:a="http://schemas.openxmlformats.org/drawingml/2006/main">
              <a:ext uri="{FF2B5EF4-FFF2-40B4-BE49-F238E27FC236}">
                <a16:creationId xmlns:a16="http://schemas.microsoft.com/office/drawing/2014/main" id="{66788120-E5F4-47B3-A81F-2A67AE5FB33F}"/>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958EC8-6E45-4B52-98F9-748B35D6B4CD}"/>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219AB29B-024B-4D6B-B9CB-A41896F65198}"/>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9</a:t>
            </a:r>
          </a:p>
        </p:txBody>
      </p:sp>
      <p:sp>
        <p:nvSpPr>
          <p:cNvPr id="7" name="">
            <a:extLst xmlns:a="http://schemas.openxmlformats.org/drawingml/2006/main">
              <a:ext uri="{FF2B5EF4-FFF2-40B4-BE49-F238E27FC236}">
                <a16:creationId xmlns:a16="http://schemas.microsoft.com/office/drawing/2014/main" id="{8823D932-2157-448C-84D0-B2BBF2F700E8}"/>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6</a:t>
            </a:r>
          </a:p>
        </p:txBody>
      </p:sp>
      <p:sp>
        <p:nvSpPr>
          <p:cNvPr id="8" name="">
            <a:extLst xmlns:a="http://schemas.openxmlformats.org/drawingml/2006/main">
              <a:ext uri="{FF2B5EF4-FFF2-40B4-BE49-F238E27FC236}">
                <a16:creationId xmlns:a16="http://schemas.microsoft.com/office/drawing/2014/main" id="{00493B35-DD5E-45EA-85F1-18D360699BFD}"/>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Material selection</a:t>
            </a:r>
          </a:p>
        </p:txBody>
      </p:sp>
      <p:sp>
        <p:nvSpPr>
          <p:cNvPr id="9" name="">
            <a:extLst xmlns:a="http://schemas.openxmlformats.org/drawingml/2006/main">
              <a:ext uri="{FF2B5EF4-FFF2-40B4-BE49-F238E27FC236}">
                <a16:creationId xmlns:a16="http://schemas.microsoft.com/office/drawing/2014/main" id="{1FBD185A-32A8-4E08-86EA-D513D412D00A}"/>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Combine P41 routing variants with MRP and Production Supervisor references.</a:t>
            </a:r>
          </a:p>
        </p:txBody>
      </p:sp>
      <p:sp>
        <p:nvSpPr>
          <p:cNvPr id="10" name="">
            <a:extLst xmlns:a="http://schemas.openxmlformats.org/drawingml/2006/main">
              <a:ext uri="{FF2B5EF4-FFF2-40B4-BE49-F238E27FC236}">
                <a16:creationId xmlns:a16="http://schemas.microsoft.com/office/drawing/2014/main" id="{44E1AA9D-E426-4BE4-88AC-415B250946A1}"/>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3F01E40C-3C4C-42C3-A52F-B542F8755F20}"/>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Plant and CRID scope, reference files, and whether Review Required candidates are acceptable.</a:t>
            </a:r>
          </a:p>
        </p:txBody>
      </p:sp>
      <p:sp>
        <p:nvSpPr>
          <p:cNvPr id="12" name="">
            <a:extLst xmlns:a="http://schemas.openxmlformats.org/drawingml/2006/main">
              <a:ext uri="{FF2B5EF4-FFF2-40B4-BE49-F238E27FC236}">
                <a16:creationId xmlns:a16="http://schemas.microsoft.com/office/drawing/2014/main" id="{BF0394BC-107E-48C6-963E-80023F17F95F}"/>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8E8F1D-3AB8-455C-A2D9-BE6FFA59B2F1}"/>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30 candidate material rows • 0 unmatched routing references • all retained for human review</a:t>
            </a:r>
          </a:p>
        </p:txBody>
      </p:sp>
      <p:sp>
        <p:nvSpPr>
          <p:cNvPr id="14" name="">
            <a:extLst xmlns:a="http://schemas.openxmlformats.org/drawingml/2006/main">
              <a:ext uri="{FF2B5EF4-FFF2-40B4-BE49-F238E27FC236}">
                <a16:creationId xmlns:a16="http://schemas.microsoft.com/office/drawing/2014/main" id="{E01A0ABD-A8E4-4B6E-83AE-A0DE867D89A9}"/>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aa46774fade485a"/>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11309339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FDDDC2F-9E3A-4C8B-A74E-58EE8EE67EE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1766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CB724C-2D2B-47FE-8C82-01EC784E1F7B}"/>
              </a:ext>
            </a:extLst>
          </p:cNvPr>
          <p:cNvSpPr>
            <a:spLocks xmlns:a="http://schemas.openxmlformats.org/drawingml/2006/main" noGrp="1"/>
          </p:cNvSpPr>
          <p:nvPr/>
        </p:nvSpPr>
        <p:spPr>
          <a:xfrm xmlns:a="http://schemas.openxmlformats.org/drawingml/2006/main">
            <a:off x="495300" y="3238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1766E8"/>
                </a:solidFill>
                <a:latin typeface="Aptos"/>
                <a:ea typeface="Aptos"/>
                <a:cs typeface="Aptos"/>
              </a:defRPr>
            </a:pPr>
            <a:r>
              <a:rPr sz="900" b="1">
                <a:solidFill>
                  <a:srgbClr val="1766E8"/>
                </a:solidFill>
                <a:latin typeface="Aptos"/>
                <a:ea typeface="Aptos"/>
                <a:cs typeface="Aptos"/>
              </a:rPr>
              <a:t>STEP 7 OF 7</a:t>
            </a:r>
          </a:p>
        </p:txBody>
      </p:sp>
      <p:sp>
        <p:nvSpPr>
          <p:cNvPr id="3" name="">
            <a:extLst xmlns:a="http://schemas.openxmlformats.org/drawingml/2006/main">
              <a:ext uri="{FF2B5EF4-FFF2-40B4-BE49-F238E27FC236}">
                <a16:creationId xmlns:a16="http://schemas.microsoft.com/office/drawing/2014/main" id="{CDA568D3-9C8F-43D0-A7E6-359CA11DD4A9}"/>
              </a:ext>
            </a:extLst>
          </p:cNvPr>
          <p:cNvSpPr>
            <a:spLocks xmlns:a="http://schemas.openxmlformats.org/drawingml/2006/main" noGrp="1"/>
          </p:cNvSpPr>
          <p:nvPr/>
        </p:nvSpPr>
        <p:spPr>
          <a:xfrm xmlns:a="http://schemas.openxmlformats.org/drawingml/2006/main">
            <a:off x="495300" y="523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8265B"/>
                </a:solidFill>
                <a:latin typeface="Aptos"/>
                <a:ea typeface="Aptos"/>
                <a:cs typeface="Aptos"/>
              </a:defRPr>
            </a:pPr>
            <a:r>
              <a:rPr sz="2550" b="1">
                <a:solidFill>
                  <a:srgbClr val="08265B"/>
                </a:solidFill>
                <a:latin typeface="Aptos"/>
                <a:ea typeface="Aptos"/>
                <a:cs typeface="Aptos"/>
              </a:rPr>
              <a:t>Export reviewable outputs</a:t>
            </a:r>
          </a:p>
        </p:txBody>
      </p:sp>
      <p:sp>
        <p:nvSpPr>
          <p:cNvPr id="4" name="">
            <a:extLst xmlns:a="http://schemas.openxmlformats.org/drawingml/2006/main">
              <a:ext uri="{FF2B5EF4-FFF2-40B4-BE49-F238E27FC236}">
                <a16:creationId xmlns:a16="http://schemas.microsoft.com/office/drawing/2014/main" id="{50D86989-6D03-465F-961A-EEDA1B593F1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C7D7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D5E0BD-D216-485A-BA9A-4E9B719963A9}"/>
              </a:ext>
            </a:extLst>
          </p:cNvPr>
          <p:cNvSpPr>
            <a:spLocks xmlns:a="http://schemas.openxmlformats.org/drawingml/2006/main" noGrp="1"/>
          </p:cNvSpPr>
          <p:nvPr/>
        </p:nvSpPr>
        <p:spPr>
          <a:xfrm xmlns:a="http://schemas.openxmlformats.org/drawingml/2006/main">
            <a:off x="4953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586B8E"/>
                </a:solidFill>
                <a:latin typeface="Aptos"/>
                <a:ea typeface="Aptos"/>
                <a:cs typeface="Aptos"/>
              </a:defRPr>
            </a:pPr>
            <a:r>
              <a:rPr sz="825" b="0">
                <a:solidFill>
                  <a:srgbClr val="586B8E"/>
                </a:solidFill>
                <a:latin typeface="Aptos"/>
                <a:ea typeface="Aptos"/>
                <a:cs typeface="Aptos"/>
              </a:rPr>
              <a:t>Simulated walkthrough | CA02 Calendar</a:t>
            </a:r>
          </a:p>
        </p:txBody>
      </p:sp>
      <p:sp>
        <p:nvSpPr>
          <p:cNvPr id="6" name="">
            <a:extLst xmlns:a="http://schemas.openxmlformats.org/drawingml/2006/main">
              <a:ext uri="{FF2B5EF4-FFF2-40B4-BE49-F238E27FC236}">
                <a16:creationId xmlns:a16="http://schemas.microsoft.com/office/drawing/2014/main" id="{398C9ABE-66E3-4A35-A922-11B02CED9CFD}"/>
              </a:ext>
            </a:extLst>
          </p:cNvPr>
          <p:cNvSpPr>
            <a:spLocks xmlns:a="http://schemas.openxmlformats.org/drawingml/2006/main" noGrp="1"/>
          </p:cNvSpPr>
          <p:nvPr/>
        </p:nvSpPr>
        <p:spPr>
          <a:xfrm xmlns:a="http://schemas.openxmlformats.org/drawingml/2006/main">
            <a:off x="11191875" y="65436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586B8E"/>
                </a:solidFill>
                <a:latin typeface="Aptos"/>
                <a:ea typeface="Aptos"/>
                <a:cs typeface="Aptos"/>
              </a:defRPr>
            </a:pPr>
            <a:r>
              <a:rPr sz="825" b="0">
                <a:solidFill>
                  <a:srgbClr val="586B8E"/>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192447EC-7E89-48AD-9B30-771C917B0EF4}"/>
              </a:ext>
            </a:extLst>
          </p:cNvPr>
          <p:cNvSpPr>
            <a:spLocks xmlns:a="http://schemas.openxmlformats.org/drawingml/2006/main" noGrp="1"/>
          </p:cNvSpPr>
          <p:nvPr/>
        </p:nvSpPr>
        <p:spPr>
          <a:xfrm xmlns:a="http://schemas.openxmlformats.org/drawingml/2006/main">
            <a:off x="495300" y="1162050"/>
            <a:ext cx="914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766E8"/>
                </a:solidFill>
                <a:latin typeface="Aptos"/>
                <a:ea typeface="Aptos"/>
                <a:cs typeface="Aptos"/>
              </a:defRPr>
            </a:pPr>
            <a:r>
              <a:rPr sz="4950" b="1">
                <a:solidFill>
                  <a:srgbClr val="1766E8"/>
                </a:solidFill>
                <a:latin typeface="Aptos"/>
                <a:ea typeface="Aptos"/>
                <a:cs typeface="Aptos"/>
              </a:rPr>
              <a:t>7</a:t>
            </a:r>
          </a:p>
        </p:txBody>
      </p:sp>
      <p:sp>
        <p:nvSpPr>
          <p:cNvPr id="8" name="">
            <a:extLst xmlns:a="http://schemas.openxmlformats.org/drawingml/2006/main">
              <a:ext uri="{FF2B5EF4-FFF2-40B4-BE49-F238E27FC236}">
                <a16:creationId xmlns:a16="http://schemas.microsoft.com/office/drawing/2014/main" id="{AD8899FB-30CC-4F51-8979-EA5CBDD7907D}"/>
              </a:ext>
            </a:extLst>
          </p:cNvPr>
          <p:cNvSpPr>
            <a:spLocks xmlns:a="http://schemas.openxmlformats.org/drawingml/2006/main" noGrp="1"/>
          </p:cNvSpPr>
          <p:nvPr/>
        </p:nvSpPr>
        <p:spPr>
          <a:xfrm xmlns:a="http://schemas.openxmlformats.org/drawingml/2006/main">
            <a:off x="495300" y="1857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8265B"/>
                </a:solidFill>
                <a:latin typeface="Aptos"/>
                <a:ea typeface="Aptos"/>
                <a:cs typeface="Aptos"/>
              </a:defRPr>
            </a:pPr>
            <a:r>
              <a:rPr sz="1950" b="1">
                <a:solidFill>
                  <a:srgbClr val="08265B"/>
                </a:solidFill>
                <a:latin typeface="Aptos"/>
                <a:ea typeface="Aptos"/>
                <a:cs typeface="Aptos"/>
              </a:rPr>
              <a:t>Export</a:t>
            </a:r>
          </a:p>
        </p:txBody>
      </p:sp>
      <p:sp>
        <p:nvSpPr>
          <p:cNvPr id="9" name="">
            <a:extLst xmlns:a="http://schemas.openxmlformats.org/drawingml/2006/main">
              <a:ext uri="{FF2B5EF4-FFF2-40B4-BE49-F238E27FC236}">
                <a16:creationId xmlns:a16="http://schemas.microsoft.com/office/drawing/2014/main" id="{42F5E163-C625-4D67-9C73-122D04B7F5FF}"/>
              </a:ext>
            </a:extLst>
          </p:cNvPr>
          <p:cNvSpPr>
            <a:spLocks xmlns:a="http://schemas.openxmlformats.org/drawingml/2006/main" noGrp="1"/>
          </p:cNvSpPr>
          <p:nvPr/>
        </p:nvSpPr>
        <p:spPr>
          <a:xfrm xmlns:a="http://schemas.openxmlformats.org/drawingml/2006/main">
            <a:off x="495300" y="24765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A2B49"/>
                </a:solidFill>
                <a:latin typeface="Aptos"/>
                <a:ea typeface="Aptos"/>
                <a:cs typeface="Aptos"/>
              </a:defRPr>
            </a:pPr>
            <a:r>
              <a:rPr sz="1350" b="0">
                <a:solidFill>
                  <a:srgbClr val="1A2B49"/>
                </a:solidFill>
                <a:latin typeface="Aptos"/>
                <a:ea typeface="Aptos"/>
                <a:cs typeface="Aptos"/>
              </a:rPr>
              <a:t>Package the prepared Change Rule and Material Selection data for business review.</a:t>
            </a:r>
          </a:p>
        </p:txBody>
      </p:sp>
      <p:sp>
        <p:nvSpPr>
          <p:cNvPr id="10" name="">
            <a:extLst xmlns:a="http://schemas.openxmlformats.org/drawingml/2006/main">
              <a:ext uri="{FF2B5EF4-FFF2-40B4-BE49-F238E27FC236}">
                <a16:creationId xmlns:a16="http://schemas.microsoft.com/office/drawing/2014/main" id="{9A0F76C8-D146-44EA-9DE0-8CC667541747}"/>
              </a:ext>
            </a:extLst>
          </p:cNvPr>
          <p:cNvSpPr>
            <a:spLocks xmlns:a="http://schemas.openxmlformats.org/drawingml/2006/main" noGrp="1"/>
          </p:cNvSpPr>
          <p:nvPr/>
        </p:nvSpPr>
        <p:spPr>
          <a:xfrm xmlns:a="http://schemas.openxmlformats.org/drawingml/2006/main">
            <a:off x="495300" y="36385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1766E8"/>
                </a:solidFill>
                <a:latin typeface="Aptos"/>
                <a:ea typeface="Aptos"/>
                <a:cs typeface="Aptos"/>
              </a:defRPr>
            </a:pPr>
            <a:r>
              <a:rPr sz="825" b="1">
                <a:solidFill>
                  <a:srgbClr val="1766E8"/>
                </a:solidFill>
                <a:latin typeface="Aptos"/>
                <a:ea typeface="Aptos"/>
                <a:cs typeface="Aptos"/>
              </a:rPr>
              <a:t>OPERATOR CONFIRMS</a:t>
            </a:r>
          </a:p>
        </p:txBody>
      </p:sp>
      <p:sp>
        <p:nvSpPr>
          <p:cNvPr id="11" name="">
            <a:extLst xmlns:a="http://schemas.openxmlformats.org/drawingml/2006/main">
              <a:ext uri="{FF2B5EF4-FFF2-40B4-BE49-F238E27FC236}">
                <a16:creationId xmlns:a16="http://schemas.microsoft.com/office/drawing/2014/main" id="{BC335DA4-1375-48A1-B3D8-22B70BFAB40E}"/>
              </a:ext>
            </a:extLst>
          </p:cNvPr>
          <p:cNvSpPr>
            <a:spLocks xmlns:a="http://schemas.openxmlformats.org/drawingml/2006/main" noGrp="1"/>
          </p:cNvSpPr>
          <p:nvPr/>
        </p:nvSpPr>
        <p:spPr>
          <a:xfrm xmlns:a="http://schemas.openxmlformats.org/drawingml/2006/main">
            <a:off x="495300" y="387667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A2B49"/>
                </a:solidFill>
                <a:latin typeface="Aptos"/>
                <a:ea typeface="Aptos"/>
                <a:cs typeface="Aptos"/>
              </a:defRPr>
            </a:pPr>
            <a:r>
              <a:rPr sz="1275" b="0">
                <a:solidFill>
                  <a:srgbClr val="1A2B49"/>
                </a:solidFill>
                <a:latin typeface="Aptos"/>
                <a:ea typeface="Aptos"/>
                <a:cs typeface="Aptos"/>
              </a:rPr>
              <a:t>Correct routing template, material template, Plant scope, and destination package.</a:t>
            </a:r>
          </a:p>
        </p:txBody>
      </p:sp>
      <p:sp>
        <p:nvSpPr>
          <p:cNvPr id="12" name="">
            <a:extLst xmlns:a="http://schemas.openxmlformats.org/drawingml/2006/main">
              <a:ext uri="{FF2B5EF4-FFF2-40B4-BE49-F238E27FC236}">
                <a16:creationId xmlns:a16="http://schemas.microsoft.com/office/drawing/2014/main" id="{12779514-A50C-4F9F-87F7-D91762AF6523}"/>
              </a:ext>
            </a:extLst>
          </p:cNvPr>
          <p:cNvSpPr>
            <a:spLocks xmlns:a="http://schemas.openxmlformats.org/drawingml/2006/main" noGrp="1"/>
          </p:cNvSpPr>
          <p:nvPr/>
        </p:nvSpPr>
        <p:spPr>
          <a:xfrm xmlns:a="http://schemas.openxmlformats.org/drawingml/2006/main">
            <a:off x="495300" y="5000625"/>
            <a:ext cx="2362200" cy="38100"/>
          </a:xfrm>
          <a:prstGeom xmlns:a="http://schemas.openxmlformats.org/drawingml/2006/main" prst="rect">
            <a:avLst/>
          </a:prstGeom>
          <a:solidFill xmlns:a="http://schemas.openxmlformats.org/drawingml/2006/main">
            <a:srgbClr val="DDE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BCD2A4-1C12-4154-A3AF-F4EEB4FBB87F}"/>
              </a:ext>
            </a:extLst>
          </p:cNvPr>
          <p:cNvSpPr>
            <a:spLocks xmlns:a="http://schemas.openxmlformats.org/drawingml/2006/main" noGrp="1"/>
          </p:cNvSpPr>
          <p:nvPr/>
        </p:nvSpPr>
        <p:spPr>
          <a:xfrm xmlns:a="http://schemas.openxmlformats.org/drawingml/2006/main">
            <a:off x="495300" y="51720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586B8E"/>
                </a:solidFill>
                <a:latin typeface="Aptos"/>
                <a:ea typeface="Aptos"/>
                <a:cs typeface="Aptos"/>
              </a:defRPr>
            </a:pPr>
            <a:r>
              <a:rPr sz="1125" b="0">
                <a:solidFill>
                  <a:srgbClr val="586B8E"/>
                </a:solidFill>
                <a:latin typeface="Aptos"/>
                <a:ea typeface="Aptos"/>
                <a:cs typeface="Aptos"/>
              </a:rPr>
              <a:t>Available outputs: Change Rule, Plant Package, All Plants, Material Selection, or combined analysis package</a:t>
            </a:r>
          </a:p>
        </p:txBody>
      </p:sp>
      <p:sp>
        <p:nvSpPr>
          <p:cNvPr id="14" name="">
            <a:extLst xmlns:a="http://schemas.openxmlformats.org/drawingml/2006/main">
              <a:ext uri="{FF2B5EF4-FFF2-40B4-BE49-F238E27FC236}">
                <a16:creationId xmlns:a16="http://schemas.microsoft.com/office/drawing/2014/main" id="{86379CC5-C975-432A-9314-D4F46008AAF7}"/>
              </a:ext>
            </a:extLst>
          </p:cNvPr>
          <p:cNvSpPr>
            <a:spLocks xmlns:a="http://schemas.openxmlformats.org/drawingml/2006/main" noGrp="1"/>
          </p:cNvSpPr>
          <p:nvPr/>
        </p:nvSpPr>
        <p:spPr>
          <a:xfrm xmlns:a="http://schemas.openxmlformats.org/drawingml/2006/main">
            <a:off x="3162300" y="1085850"/>
            <a:ext cx="8629650" cy="4953000"/>
          </a:xfrm>
          <a:prstGeom xmlns:a="http://schemas.openxmlformats.org/drawingml/2006/main" prst="roundRect">
            <a:avLst>
              <a:gd name="adj" fmla="val 1538"/>
            </a:avLst>
          </a:prstGeom>
          <a:solidFill xmlns:a="http://schemas.openxmlformats.org/drawingml/2006/main">
            <a:srgbClr val="F3F7FD"/>
          </a:solidFill>
          <a:ln xmlns:a="http://schemas.openxmlformats.org/drawingml/2006/main" w="9525">
            <a:solidFill>
              <a:srgbClr val="C7D7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0f73c4a7a0842ed"/>
          <a:stretch xmlns:a="http://schemas.openxmlformats.org/drawingml/2006/main"/>
        </p:blipFill>
        <p:spPr>
          <a:xfrm xmlns:a="http://schemas.openxmlformats.org/drawingml/2006/main">
            <a:off x="3241301" y="1162050"/>
            <a:ext cx="8471647" cy="4800600"/>
          </a:xfrm>
          <a:prstGeom xmlns:a="http://schemas.openxmlformats.org/drawingml/2006/main" prst="roundRect">
            <a:avLst>
              <a:gd name="adj" fmla="val 2381"/>
            </a:avLst>
          </a:prstGeom>
        </p:spPr>
      </p:pic>
    </p:spTree>
    <p:extLst>
      <p:ext uri="{BB962C8B-B14F-4D97-AF65-F5344CB8AC3E}">
        <p14:creationId xmlns:p14="http://schemas.microsoft.com/office/powerpoint/2010/main" val="2116495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2026-09-10T12:01:17.2710000Z</dcterms:created>
  <dcterms:modified xsi:type="dcterms:W3CDTF">2026-09-10T12:01:17.2710000Z</dcterms:modified>
</coreProperties>
</file>